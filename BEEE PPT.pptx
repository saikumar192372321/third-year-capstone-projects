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MT Bold" charset="1" panose="02030802070405020303"/>
      <p:regular r:id="rId18"/>
    </p:embeddedFont>
    <p:embeddedFont>
      <p:font typeface="Tomorrow Bold" charset="1" panose="00000000000000000000"/>
      <p:regular r:id="rId22"/>
    </p:embeddedFont>
    <p:embeddedFont>
      <p:font typeface="Tomorrow" charset="1" panose="00000000000000000000"/>
      <p:regular r:id="rId23"/>
    </p:embeddedFont>
    <p:embeddedFont>
      <p:font typeface="Consolas" charset="1" panose="020B0609020204030204"/>
      <p:regular r:id="rId31"/>
    </p:embeddedFont>
    <p:embeddedFont>
      <p:font typeface="Times New Roman Bold" charset="1" panose="020208030705050203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5.png" Type="http://schemas.openxmlformats.org/officeDocument/2006/relationships/image"/><Relationship Id="rId16" Target="../media/image6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Relationship Id="rId5" Target="../media/image35.jpeg" Type="http://schemas.openxmlformats.org/officeDocument/2006/relationships/image"/><Relationship Id="rId6" Target="../media/image36.jpeg" Type="http://schemas.openxmlformats.org/officeDocument/2006/relationships/image"/><Relationship Id="rId7" Target="../media/image37.jpeg" Type="http://schemas.openxmlformats.org/officeDocument/2006/relationships/image"/><Relationship Id="rId8" Target="../media/image38.jpe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5888" y="2629795"/>
            <a:ext cx="15544800" cy="2375916"/>
            <a:chOff x="0" y="0"/>
            <a:chExt cx="20726400" cy="31678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3167888"/>
            </a:xfrm>
            <a:custGeom>
              <a:avLst/>
              <a:gdLst/>
              <a:ahLst/>
              <a:cxnLst/>
              <a:rect r="r" b="b" t="t" l="l"/>
              <a:pathLst>
                <a:path h="31678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167888"/>
                  </a:lnTo>
                  <a:lnTo>
                    <a:pt x="0" y="31678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0726400" cy="32631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B0F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CONTROLLING ROOM LIGHT INTENSITY USING AURDINO AND BLUETOOTH MODULE (HC-05) 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267067"/>
            <a:ext cx="13074968" cy="629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Student Name – Gnvsss Manikanta</a:t>
            </a:r>
          </a:p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Register Number : 192110672</a:t>
            </a:r>
          </a:p>
          <a:p>
            <a:pPr algn="just">
              <a:lnSpc>
                <a:spcPts val="4275"/>
              </a:lnSpc>
            </a:pPr>
          </a:p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Student Name – B Lakesh</a:t>
            </a:r>
          </a:p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Register Number : 192365037</a:t>
            </a:r>
          </a:p>
          <a:p>
            <a:pPr algn="just">
              <a:lnSpc>
                <a:spcPts val="4275"/>
              </a:lnSpc>
            </a:pPr>
          </a:p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Student Name - D.V.Sai Kumar</a:t>
            </a:r>
          </a:p>
          <a:p>
            <a:pPr algn="just">
              <a:lnSpc>
                <a:spcPts val="4275"/>
              </a:lnSpc>
            </a:pPr>
            <a:r>
              <a:rPr lang="en-US" sz="3562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Register Number : 192372321</a:t>
            </a:r>
          </a:p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  <a:p>
            <a:pPr algn="just">
              <a:lnSpc>
                <a:spcPts val="4275"/>
              </a:lnSpc>
            </a:pP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427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536028" y="287439"/>
            <a:ext cx="1702676" cy="2014326"/>
            <a:chOff x="0" y="0"/>
            <a:chExt cx="2270234" cy="2685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30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10602" y="287439"/>
            <a:ext cx="2280171" cy="2014326"/>
            <a:chOff x="0" y="0"/>
            <a:chExt cx="3040228" cy="26857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393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24794" y="-49530"/>
            <a:ext cx="14299718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EB22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SIMATS ENGINEERING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EB22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Saveetha Institute of Medical and Technical Sciences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EB22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Chennai-602105.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5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413038" y="5257542"/>
            <a:ext cx="10271388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Supervisor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 .Prema Kandasamy,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 . Dinakar Raj.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Professor,</a:t>
            </a:r>
          </a:p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SIMATS ENGINEERING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903487"/>
            <a:ext cx="9445526" cy="357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Controlling Room Light Intensity Using Arduino and Bluetooth Module (HC-05)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777335"/>
            <a:ext cx="9445526" cy="54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27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low-cost, wireless solution for smart home lighting.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393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114768"/>
            <a:ext cx="1062832" cy="1257368"/>
            <a:chOff x="0" y="0"/>
            <a:chExt cx="2270234" cy="26857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6441" y="443731"/>
            <a:ext cx="14754969" cy="155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49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Project Overview: Smart Light Control via Bluetooth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6441" y="2210150"/>
            <a:ext cx="16303526" cy="100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This project demonstrates a practical application of embedded systems and wireless communication to create a </a:t>
            </a:r>
            <a:r>
              <a:rPr lang="en-US" sz="24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responsive and intuitive lighting solution</a:t>
            </a:r>
            <a:r>
              <a:rPr lang="en-US" sz="24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46772" y="3968949"/>
            <a:ext cx="354404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Remote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496246"/>
            <a:ext cx="5298579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Adjust light intensity wirelessly from a standard smartphone application.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290816" y="3541365"/>
            <a:ext cx="5706219" cy="5706219"/>
            <a:chOff x="0" y="0"/>
            <a:chExt cx="7608292" cy="760829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7905452" y="5156001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666" t="0" r="-1666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97035" y="3968949"/>
            <a:ext cx="354404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Adjust Intensity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97035" y="4496246"/>
            <a:ext cx="5298727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Achieve smooth dimming effects, not just simple ON/OFF switching.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290816" y="3541365"/>
            <a:ext cx="5706219" cy="5706219"/>
            <a:chOff x="0" y="0"/>
            <a:chExt cx="7608292" cy="760829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9983391" y="5156001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857" r="0" b="-1785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997035" y="6807845"/>
            <a:ext cx="354404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Core Technology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97035" y="7335142"/>
            <a:ext cx="5298727" cy="138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Powered by the Arduino Uno microcontroller and HC-05 Bluetooth module.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6290816" y="3541365"/>
            <a:ext cx="5706219" cy="5706219"/>
            <a:chOff x="0" y="0"/>
            <a:chExt cx="7608292" cy="760829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9983391" y="7233940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190" r="0" b="-119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10683" y="6807845"/>
            <a:ext cx="558013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Three Key Modules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7335142"/>
            <a:ext cx="5298579" cy="138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Microcontroller, Bluetooth Communication, and Light Control Hardware.</a:t>
            </a:r>
          </a:p>
        </p:txBody>
      </p: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6290816" y="3541365"/>
            <a:ext cx="5706219" cy="5706219"/>
            <a:chOff x="0" y="0"/>
            <a:chExt cx="7608292" cy="760829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7905452" y="7233940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190" t="0" r="-119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1393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1435" y="165461"/>
            <a:ext cx="998495" cy="1181255"/>
            <a:chOff x="0" y="0"/>
            <a:chExt cx="2270234" cy="26857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318141"/>
            <a:ext cx="16765991" cy="73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46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Module 1: Arduino Uno Microcontroller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62944"/>
            <a:ext cx="9955556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Arduino Uno serves as the central processing unit, bridging the gap between digital commands and physical light control.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98500" y="3702695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13632" y="3674864"/>
            <a:ext cx="3654029" cy="89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The Brain of the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3" y="4758481"/>
            <a:ext cx="4779531" cy="143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Processes incoming Bluetooth commands sent from the smartphone app.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028284" y="3702695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43415" y="3674864"/>
            <a:ext cx="354404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PWM Capability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3415" y="4315569"/>
            <a:ext cx="4355455" cy="191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Utilizes dedicated Pulse Width Modulation (PWM) pins to allow for precise dimming of connected lights.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98500" y="7264301"/>
            <a:ext cx="425203" cy="425202"/>
          </a:xfrm>
          <a:custGeom>
            <a:avLst/>
            <a:gdLst/>
            <a:ahLst/>
            <a:cxnLst/>
            <a:rect r="r" b="b" t="t" l="l"/>
            <a:pathLst>
              <a:path h="425202" w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3632" y="7236470"/>
            <a:ext cx="3544044" cy="4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Custom Logic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3632" y="7877175"/>
            <a:ext cx="8583960" cy="143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Runs firmware designed to interpret serial data and translate it into appropriate voltage signals for the light circuit.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198870" y="2531566"/>
            <a:ext cx="6106269" cy="6106269"/>
            <a:chOff x="0" y="0"/>
            <a:chExt cx="8141692" cy="814169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141716" cy="8141716"/>
            </a:xfrm>
            <a:custGeom>
              <a:avLst/>
              <a:gdLst/>
              <a:ahLst/>
              <a:cxnLst/>
              <a:rect r="r" b="b" t="t" l="l"/>
              <a:pathLst>
                <a:path h="8141716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8141716"/>
                  </a:lnTo>
                  <a:lnTo>
                    <a:pt x="0" y="814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3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0825" y="178261"/>
            <a:ext cx="987674" cy="1168454"/>
            <a:chOff x="0" y="0"/>
            <a:chExt cx="2270234" cy="26857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90546" y="664172"/>
            <a:ext cx="13501526" cy="70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4424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Module 2: HC-05 Bluetooth Module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15579" y="1834902"/>
            <a:ext cx="8044160" cy="8044160"/>
            <a:chOff x="0" y="0"/>
            <a:chExt cx="10725547" cy="107255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725531" cy="10725531"/>
            </a:xfrm>
            <a:custGeom>
              <a:avLst/>
              <a:gdLst/>
              <a:ahLst/>
              <a:cxnLst/>
              <a:rect r="r" b="b" t="t" l="l"/>
              <a:pathLst>
                <a:path h="10725531" w="10725531">
                  <a:moveTo>
                    <a:pt x="0" y="0"/>
                  </a:moveTo>
                  <a:lnTo>
                    <a:pt x="10725531" y="0"/>
                  </a:lnTo>
                  <a:lnTo>
                    <a:pt x="10725531" y="10725531"/>
                  </a:lnTo>
                  <a:lnTo>
                    <a:pt x="0" y="10725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37786" y="1687265"/>
            <a:ext cx="8539381" cy="143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4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HC-05 provides the essential </a:t>
            </a:r>
            <a:r>
              <a:rPr lang="en-US" sz="2412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wireless link</a:t>
            </a:r>
            <a:r>
              <a:rPr lang="en-US" sz="24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, allowing the system to be controlled remotely without physical connections.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23499" y="2775942"/>
            <a:ext cx="8072735" cy="1894135"/>
            <a:chOff x="0" y="0"/>
            <a:chExt cx="10763647" cy="2525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10725531" cy="2487422"/>
            </a:xfrm>
            <a:custGeom>
              <a:avLst/>
              <a:gdLst/>
              <a:ahLst/>
              <a:cxnLst/>
              <a:rect r="r" b="b" t="t" l="l"/>
              <a:pathLst>
                <a:path h="2487422" w="10725531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40492" y="0"/>
                  </a:lnTo>
                  <a:cubicBezTo>
                    <a:pt x="10642727" y="0"/>
                    <a:pt x="10725531" y="81915"/>
                    <a:pt x="10725531" y="182880"/>
                  </a:cubicBezTo>
                  <a:lnTo>
                    <a:pt x="10725531" y="2304542"/>
                  </a:lnTo>
                  <a:cubicBezTo>
                    <a:pt x="10725531" y="2405507"/>
                    <a:pt x="10642727" y="2487422"/>
                    <a:pt x="10540492" y="2487422"/>
                  </a:cubicBezTo>
                  <a:lnTo>
                    <a:pt x="185039" y="2487422"/>
                  </a:lnTo>
                  <a:cubicBezTo>
                    <a:pt x="82804" y="2487422"/>
                    <a:pt x="0" y="2405507"/>
                    <a:pt x="0" y="2304542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3631" cy="2525522"/>
            </a:xfrm>
            <a:custGeom>
              <a:avLst/>
              <a:gdLst/>
              <a:ahLst/>
              <a:cxnLst/>
              <a:rect r="r" b="b" t="t" l="l"/>
              <a:pathLst>
                <a:path h="2525522" w="10763631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59542" y="0"/>
                  </a:lnTo>
                  <a:lnTo>
                    <a:pt x="10559542" y="19050"/>
                  </a:lnTo>
                  <a:lnTo>
                    <a:pt x="10559542" y="0"/>
                  </a:lnTo>
                  <a:cubicBezTo>
                    <a:pt x="10672064" y="0"/>
                    <a:pt x="10763631" y="90170"/>
                    <a:pt x="10763631" y="201930"/>
                  </a:cubicBezTo>
                  <a:lnTo>
                    <a:pt x="10744581" y="201930"/>
                  </a:lnTo>
                  <a:lnTo>
                    <a:pt x="10763631" y="201930"/>
                  </a:lnTo>
                  <a:lnTo>
                    <a:pt x="10763631" y="2323592"/>
                  </a:lnTo>
                  <a:lnTo>
                    <a:pt x="10744581" y="2323592"/>
                  </a:lnTo>
                  <a:lnTo>
                    <a:pt x="10763631" y="2323592"/>
                  </a:lnTo>
                  <a:cubicBezTo>
                    <a:pt x="10763631" y="2435352"/>
                    <a:pt x="10672064" y="2525522"/>
                    <a:pt x="10559542" y="2525522"/>
                  </a:cubicBezTo>
                  <a:lnTo>
                    <a:pt x="10559542" y="2506472"/>
                  </a:lnTo>
                  <a:lnTo>
                    <a:pt x="10559542" y="2525522"/>
                  </a:lnTo>
                  <a:lnTo>
                    <a:pt x="204089" y="2525522"/>
                  </a:lnTo>
                  <a:lnTo>
                    <a:pt x="204089" y="2506472"/>
                  </a:lnTo>
                  <a:lnTo>
                    <a:pt x="204089" y="2525522"/>
                  </a:lnTo>
                  <a:cubicBezTo>
                    <a:pt x="91567" y="2525522"/>
                    <a:pt x="0" y="2435352"/>
                    <a:pt x="0" y="23235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23592"/>
                  </a:lnTo>
                  <a:lnTo>
                    <a:pt x="19050" y="2323592"/>
                  </a:lnTo>
                  <a:lnTo>
                    <a:pt x="38100" y="2323592"/>
                  </a:lnTo>
                  <a:cubicBezTo>
                    <a:pt x="38100" y="2413889"/>
                    <a:pt x="112141" y="2487422"/>
                    <a:pt x="204089" y="2487422"/>
                  </a:cubicBezTo>
                  <a:lnTo>
                    <a:pt x="10559542" y="2487422"/>
                  </a:lnTo>
                  <a:cubicBezTo>
                    <a:pt x="10651363" y="2487422"/>
                    <a:pt x="10725531" y="2413889"/>
                    <a:pt x="10725531" y="2323592"/>
                  </a:cubicBezTo>
                  <a:lnTo>
                    <a:pt x="10725531" y="201930"/>
                  </a:lnTo>
                  <a:cubicBezTo>
                    <a:pt x="10725531" y="111633"/>
                    <a:pt x="10651490" y="38100"/>
                    <a:pt x="10559542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09211" y="2790230"/>
            <a:ext cx="114300" cy="1865560"/>
            <a:chOff x="0" y="0"/>
            <a:chExt cx="152400" cy="24874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487422"/>
            </a:xfrm>
            <a:custGeom>
              <a:avLst/>
              <a:gdLst/>
              <a:ahLst/>
              <a:cxnLst/>
              <a:rect r="r" b="b" t="t" l="l"/>
              <a:pathLst>
                <a:path h="2487422" w="152400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105791" y="0"/>
                  </a:lnTo>
                  <a:cubicBezTo>
                    <a:pt x="131572" y="0"/>
                    <a:pt x="152400" y="20828"/>
                    <a:pt x="152400" y="46609"/>
                  </a:cubicBezTo>
                  <a:lnTo>
                    <a:pt x="152400" y="2440813"/>
                  </a:lnTo>
                  <a:cubicBezTo>
                    <a:pt x="152400" y="2466594"/>
                    <a:pt x="131572" y="2487422"/>
                    <a:pt x="105791" y="2487422"/>
                  </a:cubicBezTo>
                  <a:lnTo>
                    <a:pt x="46609" y="2487422"/>
                  </a:lnTo>
                  <a:cubicBezTo>
                    <a:pt x="20828" y="2487422"/>
                    <a:pt x="0" y="2466594"/>
                    <a:pt x="0" y="244081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85002" y="3032671"/>
            <a:ext cx="5507069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Wireless Communication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5002" y="3562945"/>
            <a:ext cx="7435454" cy="85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Establishes a reliable Serial Port Profile (SPP) connection with the user's smartphone.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23499" y="4874419"/>
            <a:ext cx="8072735" cy="1894135"/>
            <a:chOff x="0" y="0"/>
            <a:chExt cx="10763647" cy="2525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10725531" cy="2487422"/>
            </a:xfrm>
            <a:custGeom>
              <a:avLst/>
              <a:gdLst/>
              <a:ahLst/>
              <a:cxnLst/>
              <a:rect r="r" b="b" t="t" l="l"/>
              <a:pathLst>
                <a:path h="2487422" w="10725531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40492" y="0"/>
                  </a:lnTo>
                  <a:cubicBezTo>
                    <a:pt x="10642727" y="0"/>
                    <a:pt x="10725531" y="81915"/>
                    <a:pt x="10725531" y="182880"/>
                  </a:cubicBezTo>
                  <a:lnTo>
                    <a:pt x="10725531" y="2304542"/>
                  </a:lnTo>
                  <a:cubicBezTo>
                    <a:pt x="10725531" y="2405507"/>
                    <a:pt x="10642727" y="2487422"/>
                    <a:pt x="10540492" y="2487422"/>
                  </a:cubicBezTo>
                  <a:lnTo>
                    <a:pt x="185039" y="2487422"/>
                  </a:lnTo>
                  <a:cubicBezTo>
                    <a:pt x="82804" y="2487422"/>
                    <a:pt x="0" y="2405507"/>
                    <a:pt x="0" y="2304542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3631" cy="2525522"/>
            </a:xfrm>
            <a:custGeom>
              <a:avLst/>
              <a:gdLst/>
              <a:ahLst/>
              <a:cxnLst/>
              <a:rect r="r" b="b" t="t" l="l"/>
              <a:pathLst>
                <a:path h="2525522" w="10763631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59542" y="0"/>
                  </a:lnTo>
                  <a:lnTo>
                    <a:pt x="10559542" y="19050"/>
                  </a:lnTo>
                  <a:lnTo>
                    <a:pt x="10559542" y="0"/>
                  </a:lnTo>
                  <a:cubicBezTo>
                    <a:pt x="10672064" y="0"/>
                    <a:pt x="10763631" y="90170"/>
                    <a:pt x="10763631" y="201930"/>
                  </a:cubicBezTo>
                  <a:lnTo>
                    <a:pt x="10744581" y="201930"/>
                  </a:lnTo>
                  <a:lnTo>
                    <a:pt x="10763631" y="201930"/>
                  </a:lnTo>
                  <a:lnTo>
                    <a:pt x="10763631" y="2323592"/>
                  </a:lnTo>
                  <a:lnTo>
                    <a:pt x="10744581" y="2323592"/>
                  </a:lnTo>
                  <a:lnTo>
                    <a:pt x="10763631" y="2323592"/>
                  </a:lnTo>
                  <a:cubicBezTo>
                    <a:pt x="10763631" y="2435352"/>
                    <a:pt x="10672064" y="2525522"/>
                    <a:pt x="10559542" y="2525522"/>
                  </a:cubicBezTo>
                  <a:lnTo>
                    <a:pt x="10559542" y="2506472"/>
                  </a:lnTo>
                  <a:lnTo>
                    <a:pt x="10559542" y="2525522"/>
                  </a:lnTo>
                  <a:lnTo>
                    <a:pt x="204089" y="2525522"/>
                  </a:lnTo>
                  <a:lnTo>
                    <a:pt x="204089" y="2506472"/>
                  </a:lnTo>
                  <a:lnTo>
                    <a:pt x="204089" y="2525522"/>
                  </a:lnTo>
                  <a:cubicBezTo>
                    <a:pt x="91567" y="2525522"/>
                    <a:pt x="0" y="2435352"/>
                    <a:pt x="0" y="23235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23592"/>
                  </a:lnTo>
                  <a:lnTo>
                    <a:pt x="19050" y="2323592"/>
                  </a:lnTo>
                  <a:lnTo>
                    <a:pt x="38100" y="2323592"/>
                  </a:lnTo>
                  <a:cubicBezTo>
                    <a:pt x="38100" y="2413889"/>
                    <a:pt x="112141" y="2487422"/>
                    <a:pt x="204089" y="2487422"/>
                  </a:cubicBezTo>
                  <a:lnTo>
                    <a:pt x="10559542" y="2487422"/>
                  </a:lnTo>
                  <a:cubicBezTo>
                    <a:pt x="10651363" y="2487422"/>
                    <a:pt x="10725531" y="2413889"/>
                    <a:pt x="10725531" y="2323592"/>
                  </a:cubicBezTo>
                  <a:lnTo>
                    <a:pt x="10725531" y="201930"/>
                  </a:lnTo>
                  <a:cubicBezTo>
                    <a:pt x="10725531" y="111633"/>
                    <a:pt x="10651490" y="38100"/>
                    <a:pt x="10559542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09211" y="4888706"/>
            <a:ext cx="114300" cy="1865560"/>
            <a:chOff x="0" y="0"/>
            <a:chExt cx="152400" cy="24874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2487422"/>
            </a:xfrm>
            <a:custGeom>
              <a:avLst/>
              <a:gdLst/>
              <a:ahLst/>
              <a:cxnLst/>
              <a:rect r="r" b="b" t="t" l="l"/>
              <a:pathLst>
                <a:path h="2487422" w="152400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105791" y="0"/>
                  </a:lnTo>
                  <a:cubicBezTo>
                    <a:pt x="131572" y="0"/>
                    <a:pt x="152400" y="20828"/>
                    <a:pt x="152400" y="46609"/>
                  </a:cubicBezTo>
                  <a:lnTo>
                    <a:pt x="152400" y="2440813"/>
                  </a:lnTo>
                  <a:cubicBezTo>
                    <a:pt x="152400" y="2466594"/>
                    <a:pt x="131572" y="2487422"/>
                    <a:pt x="105791" y="2487422"/>
                  </a:cubicBezTo>
                  <a:lnTo>
                    <a:pt x="46609" y="2487422"/>
                  </a:lnTo>
                  <a:cubicBezTo>
                    <a:pt x="20828" y="2487422"/>
                    <a:pt x="0" y="2466594"/>
                    <a:pt x="0" y="244081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85002" y="5070127"/>
            <a:ext cx="5222134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Simplified Interface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23846" y="5452639"/>
            <a:ext cx="7435454" cy="129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Data is transmitted serially; Arduino reads simple strings or characters to denote the desired light state or intensity level.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23499" y="6972895"/>
            <a:ext cx="8072735" cy="1894135"/>
            <a:chOff x="0" y="0"/>
            <a:chExt cx="10763647" cy="25255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10725531" cy="2487422"/>
            </a:xfrm>
            <a:custGeom>
              <a:avLst/>
              <a:gdLst/>
              <a:ahLst/>
              <a:cxnLst/>
              <a:rect r="r" b="b" t="t" l="l"/>
              <a:pathLst>
                <a:path h="2487422" w="10725531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40492" y="0"/>
                  </a:lnTo>
                  <a:cubicBezTo>
                    <a:pt x="10642727" y="0"/>
                    <a:pt x="10725531" y="81915"/>
                    <a:pt x="10725531" y="182880"/>
                  </a:cubicBezTo>
                  <a:lnTo>
                    <a:pt x="10725531" y="2304542"/>
                  </a:lnTo>
                  <a:cubicBezTo>
                    <a:pt x="10725531" y="2405507"/>
                    <a:pt x="10642727" y="2487422"/>
                    <a:pt x="10540492" y="2487422"/>
                  </a:cubicBezTo>
                  <a:lnTo>
                    <a:pt x="185039" y="2487422"/>
                  </a:lnTo>
                  <a:cubicBezTo>
                    <a:pt x="82804" y="2487422"/>
                    <a:pt x="0" y="2405507"/>
                    <a:pt x="0" y="2304542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3631" cy="2525522"/>
            </a:xfrm>
            <a:custGeom>
              <a:avLst/>
              <a:gdLst/>
              <a:ahLst/>
              <a:cxnLst/>
              <a:rect r="r" b="b" t="t" l="l"/>
              <a:pathLst>
                <a:path h="2525522" w="10763631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59542" y="0"/>
                  </a:lnTo>
                  <a:lnTo>
                    <a:pt x="10559542" y="19050"/>
                  </a:lnTo>
                  <a:lnTo>
                    <a:pt x="10559542" y="0"/>
                  </a:lnTo>
                  <a:cubicBezTo>
                    <a:pt x="10672064" y="0"/>
                    <a:pt x="10763631" y="90170"/>
                    <a:pt x="10763631" y="201930"/>
                  </a:cubicBezTo>
                  <a:lnTo>
                    <a:pt x="10744581" y="201930"/>
                  </a:lnTo>
                  <a:lnTo>
                    <a:pt x="10763631" y="201930"/>
                  </a:lnTo>
                  <a:lnTo>
                    <a:pt x="10763631" y="2323592"/>
                  </a:lnTo>
                  <a:lnTo>
                    <a:pt x="10744581" y="2323592"/>
                  </a:lnTo>
                  <a:lnTo>
                    <a:pt x="10763631" y="2323592"/>
                  </a:lnTo>
                  <a:cubicBezTo>
                    <a:pt x="10763631" y="2435352"/>
                    <a:pt x="10672064" y="2525522"/>
                    <a:pt x="10559542" y="2525522"/>
                  </a:cubicBezTo>
                  <a:lnTo>
                    <a:pt x="10559542" y="2506472"/>
                  </a:lnTo>
                  <a:lnTo>
                    <a:pt x="10559542" y="2525522"/>
                  </a:lnTo>
                  <a:lnTo>
                    <a:pt x="204089" y="2525522"/>
                  </a:lnTo>
                  <a:lnTo>
                    <a:pt x="204089" y="2506472"/>
                  </a:lnTo>
                  <a:lnTo>
                    <a:pt x="204089" y="2525522"/>
                  </a:lnTo>
                  <a:cubicBezTo>
                    <a:pt x="91567" y="2525522"/>
                    <a:pt x="0" y="2435352"/>
                    <a:pt x="0" y="23235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23592"/>
                  </a:lnTo>
                  <a:lnTo>
                    <a:pt x="19050" y="2323592"/>
                  </a:lnTo>
                  <a:lnTo>
                    <a:pt x="38100" y="2323592"/>
                  </a:lnTo>
                  <a:cubicBezTo>
                    <a:pt x="38100" y="2413889"/>
                    <a:pt x="112141" y="2487422"/>
                    <a:pt x="204089" y="2487422"/>
                  </a:cubicBezTo>
                  <a:lnTo>
                    <a:pt x="10559542" y="2487422"/>
                  </a:lnTo>
                  <a:cubicBezTo>
                    <a:pt x="10651363" y="2487422"/>
                    <a:pt x="10725531" y="2413889"/>
                    <a:pt x="10725531" y="2323592"/>
                  </a:cubicBezTo>
                  <a:lnTo>
                    <a:pt x="10725531" y="201930"/>
                  </a:lnTo>
                  <a:cubicBezTo>
                    <a:pt x="10725531" y="111633"/>
                    <a:pt x="10651490" y="38100"/>
                    <a:pt x="10559542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09211" y="6987182"/>
            <a:ext cx="114300" cy="1865560"/>
            <a:chOff x="0" y="0"/>
            <a:chExt cx="152400" cy="24874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2487422"/>
            </a:xfrm>
            <a:custGeom>
              <a:avLst/>
              <a:gdLst/>
              <a:ahLst/>
              <a:cxnLst/>
              <a:rect r="r" b="b" t="t" l="l"/>
              <a:pathLst>
                <a:path h="2487422" w="152400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105791" y="0"/>
                  </a:lnTo>
                  <a:cubicBezTo>
                    <a:pt x="131572" y="0"/>
                    <a:pt x="152400" y="20828"/>
                    <a:pt x="152400" y="46609"/>
                  </a:cubicBezTo>
                  <a:lnTo>
                    <a:pt x="152400" y="2440813"/>
                  </a:lnTo>
                  <a:cubicBezTo>
                    <a:pt x="152400" y="2466594"/>
                    <a:pt x="131572" y="2487422"/>
                    <a:pt x="105791" y="2487422"/>
                  </a:cubicBezTo>
                  <a:lnTo>
                    <a:pt x="46609" y="2487422"/>
                  </a:lnTo>
                  <a:cubicBezTo>
                    <a:pt x="20828" y="2487422"/>
                    <a:pt x="0" y="2466594"/>
                    <a:pt x="0" y="244081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785002" y="7229624"/>
            <a:ext cx="6207929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Standard Connectivity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85002" y="7759899"/>
            <a:ext cx="7435454" cy="85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Connects to the Arduino's hardware serial pins (TX/RX) for efficient, high-speed data transfer.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393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0" y="141962"/>
            <a:ext cx="1033520" cy="1222692"/>
            <a:chOff x="0" y="0"/>
            <a:chExt cx="2270234" cy="26857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00125"/>
            <a:ext cx="13704391" cy="79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4"/>
              </a:lnSpc>
            </a:pPr>
            <a:r>
              <a:rPr lang="en-US" sz="50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Module 3: Light Control 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10281"/>
            <a:ext cx="16303526" cy="10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6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This module handles the actual power delivery and light modulation based on the Arduino's digital output signals.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965079"/>
            <a:ext cx="850553" cy="850553"/>
          </a:xfrm>
          <a:custGeom>
            <a:avLst/>
            <a:gdLst/>
            <a:ahLst/>
            <a:cxnLst/>
            <a:rect r="r" b="b" t="t" l="l"/>
            <a:pathLst>
              <a:path h="850553" w="850553">
                <a:moveTo>
                  <a:pt x="0" y="0"/>
                </a:moveTo>
                <a:lnTo>
                  <a:pt x="850552" y="0"/>
                </a:lnTo>
                <a:lnTo>
                  <a:pt x="850552" y="850552"/>
                </a:lnTo>
                <a:lnTo>
                  <a:pt x="0" y="850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111" t="0" r="-1611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515094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PWM Utilization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678240"/>
            <a:ext cx="5198269" cy="184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core mechanism for dimming, where the Arduino's output signal is rapidly pulsed to control the effective voltage supplied to the light source.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44866" y="3965079"/>
            <a:ext cx="850552" cy="850553"/>
          </a:xfrm>
          <a:custGeom>
            <a:avLst/>
            <a:gdLst/>
            <a:ahLst/>
            <a:cxnLst/>
            <a:rect r="r" b="b" t="t" l="l"/>
            <a:pathLst>
              <a:path h="850553" w="850552">
                <a:moveTo>
                  <a:pt x="0" y="0"/>
                </a:moveTo>
                <a:lnTo>
                  <a:pt x="850553" y="0"/>
                </a:lnTo>
                <a:lnTo>
                  <a:pt x="850553" y="850552"/>
                </a:lnTo>
                <a:lnTo>
                  <a:pt x="0" y="8505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444" t="0" r="-444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44866" y="5150941"/>
            <a:ext cx="597790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Component Choice (DC)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5678240"/>
            <a:ext cx="5198269" cy="184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For low-voltage DC applications, LEDs are directly controlled, often using a MOSFET or transistor to handle the current load.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97494" y="3965079"/>
            <a:ext cx="850553" cy="850553"/>
          </a:xfrm>
          <a:custGeom>
            <a:avLst/>
            <a:gdLst/>
            <a:ahLst/>
            <a:cxnLst/>
            <a:rect r="r" b="b" t="t" l="l"/>
            <a:pathLst>
              <a:path h="850553" w="850553">
                <a:moveTo>
                  <a:pt x="0" y="0"/>
                </a:moveTo>
                <a:lnTo>
                  <a:pt x="850552" y="0"/>
                </a:lnTo>
                <a:lnTo>
                  <a:pt x="850552" y="850552"/>
                </a:lnTo>
                <a:lnTo>
                  <a:pt x="0" y="850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33" t="0" r="-833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97494" y="5150941"/>
            <a:ext cx="7435163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Component Choice (AC)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4" y="5678240"/>
            <a:ext cx="5198269" cy="184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For high-voltage AC bulbs, a relay module is necessary to safely switch the main power ON/OFF, or a TRIAC dimmer circuit for AC dimming.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7" y="8036792"/>
            <a:ext cx="16303526" cy="46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ability to use PWM pins ensures </a:t>
            </a:r>
            <a:r>
              <a:rPr lang="en-US" sz="2387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smooth, continuous intensity adjustment</a:t>
            </a:r>
            <a:r>
              <a:rPr lang="en-US" sz="23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rather than just binary control.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1393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441" y="114768"/>
            <a:ext cx="950259" cy="1124191"/>
            <a:chOff x="0" y="0"/>
            <a:chExt cx="2270234" cy="26857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42109" y="646595"/>
            <a:ext cx="10362863" cy="70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7"/>
              </a:lnSpc>
            </a:pPr>
            <a:r>
              <a:rPr lang="en-US" sz="4524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Essential Components 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136" y="1568946"/>
            <a:ext cx="17479864" cy="51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</a:pPr>
            <a:r>
              <a:rPr lang="en-US" sz="27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Gathering the right hardware is the first step in building this low-cost, high-utility smart lighting system.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8136" y="2648991"/>
            <a:ext cx="8220372" cy="1704826"/>
            <a:chOff x="0" y="0"/>
            <a:chExt cx="10960497" cy="22731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60481" cy="2273173"/>
            </a:xfrm>
            <a:custGeom>
              <a:avLst/>
              <a:gdLst/>
              <a:ahLst/>
              <a:cxnLst/>
              <a:rect r="r" b="b" t="t" l="l"/>
              <a:pathLst>
                <a:path h="2273173" w="1096048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601" y="0"/>
                  </a:lnTo>
                  <a:cubicBezTo>
                    <a:pt x="10878566" y="0"/>
                    <a:pt x="10960481" y="81915"/>
                    <a:pt x="10960481" y="182880"/>
                  </a:cubicBezTo>
                  <a:lnTo>
                    <a:pt x="10960481" y="2090293"/>
                  </a:lnTo>
                  <a:cubicBezTo>
                    <a:pt x="10960481" y="2191258"/>
                    <a:pt x="10878566" y="2273173"/>
                    <a:pt x="10777601" y="2273173"/>
                  </a:cubicBezTo>
                  <a:lnTo>
                    <a:pt x="182880" y="2273173"/>
                  </a:lnTo>
                  <a:cubicBezTo>
                    <a:pt x="81915" y="2273173"/>
                    <a:pt x="0" y="2191258"/>
                    <a:pt x="0" y="209029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8136" y="2620416"/>
            <a:ext cx="8220372" cy="114300"/>
            <a:chOff x="0" y="0"/>
            <a:chExt cx="10960497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60608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608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380" y="0"/>
                  </a:lnTo>
                  <a:cubicBezTo>
                    <a:pt x="10939907" y="0"/>
                    <a:pt x="10960608" y="20701"/>
                    <a:pt x="10960608" y="46228"/>
                  </a:cubicBezTo>
                  <a:lnTo>
                    <a:pt x="10960608" y="106172"/>
                  </a:lnTo>
                  <a:cubicBezTo>
                    <a:pt x="10960608" y="131699"/>
                    <a:pt x="10939907" y="152400"/>
                    <a:pt x="10914380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0" y="2302669"/>
            <a:ext cx="692646" cy="692646"/>
            <a:chOff x="0" y="0"/>
            <a:chExt cx="923528" cy="923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779764" y="2390031"/>
            <a:ext cx="276969" cy="43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7544" y="3207097"/>
            <a:ext cx="2886224" cy="42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Arduino Uno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544" y="3639443"/>
            <a:ext cx="7701557" cy="46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primary microcontroller board.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59341" y="2648991"/>
            <a:ext cx="8220521" cy="1704826"/>
            <a:chOff x="0" y="0"/>
            <a:chExt cx="10960695" cy="22731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60736" cy="2273173"/>
            </a:xfrm>
            <a:custGeom>
              <a:avLst/>
              <a:gdLst/>
              <a:ahLst/>
              <a:cxnLst/>
              <a:rect r="r" b="b" t="t" l="l"/>
              <a:pathLst>
                <a:path h="2273173" w="109607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855" y="0"/>
                  </a:lnTo>
                  <a:cubicBezTo>
                    <a:pt x="10878820" y="0"/>
                    <a:pt x="10960736" y="81915"/>
                    <a:pt x="10960736" y="182880"/>
                  </a:cubicBezTo>
                  <a:lnTo>
                    <a:pt x="10960736" y="2090293"/>
                  </a:lnTo>
                  <a:cubicBezTo>
                    <a:pt x="10960736" y="2191258"/>
                    <a:pt x="10878820" y="2273173"/>
                    <a:pt x="10777855" y="2273173"/>
                  </a:cubicBezTo>
                  <a:lnTo>
                    <a:pt x="182880" y="2273173"/>
                  </a:lnTo>
                  <a:cubicBezTo>
                    <a:pt x="81915" y="2273173"/>
                    <a:pt x="0" y="2191258"/>
                    <a:pt x="0" y="2090293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59341" y="2620416"/>
            <a:ext cx="8220521" cy="114300"/>
            <a:chOff x="0" y="0"/>
            <a:chExt cx="10960695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60735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735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507" y="0"/>
                  </a:lnTo>
                  <a:cubicBezTo>
                    <a:pt x="10940034" y="0"/>
                    <a:pt x="10960735" y="20701"/>
                    <a:pt x="10960735" y="46228"/>
                  </a:cubicBezTo>
                  <a:lnTo>
                    <a:pt x="10960735" y="106172"/>
                  </a:lnTo>
                  <a:cubicBezTo>
                    <a:pt x="10960735" y="131699"/>
                    <a:pt x="10940034" y="152400"/>
                    <a:pt x="10914507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23205" y="2302669"/>
            <a:ext cx="692646" cy="692646"/>
            <a:chOff x="0" y="0"/>
            <a:chExt cx="923528" cy="9235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230969" y="2390031"/>
            <a:ext cx="276969" cy="43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18749" y="3207098"/>
            <a:ext cx="2886224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HC-05 Module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8749" y="3639442"/>
            <a:ext cx="8400829" cy="97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Bluetooth transceiver for wireless command transmission.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8136" y="4930974"/>
            <a:ext cx="8220372" cy="2074069"/>
            <a:chOff x="0" y="0"/>
            <a:chExt cx="10960497" cy="27654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60481" cy="2765425"/>
            </a:xfrm>
            <a:custGeom>
              <a:avLst/>
              <a:gdLst/>
              <a:ahLst/>
              <a:cxnLst/>
              <a:rect r="r" b="b" t="t" l="l"/>
              <a:pathLst>
                <a:path h="2765425" w="1096048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601" y="0"/>
                  </a:lnTo>
                  <a:cubicBezTo>
                    <a:pt x="10878566" y="0"/>
                    <a:pt x="10960481" y="81915"/>
                    <a:pt x="10960481" y="182880"/>
                  </a:cubicBezTo>
                  <a:lnTo>
                    <a:pt x="10960481" y="2582545"/>
                  </a:lnTo>
                  <a:cubicBezTo>
                    <a:pt x="10960481" y="2683510"/>
                    <a:pt x="10878566" y="2765425"/>
                    <a:pt x="10777601" y="2765425"/>
                  </a:cubicBezTo>
                  <a:lnTo>
                    <a:pt x="182880" y="2765425"/>
                  </a:lnTo>
                  <a:cubicBezTo>
                    <a:pt x="81915" y="2765425"/>
                    <a:pt x="0" y="2683510"/>
                    <a:pt x="0" y="258254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08136" y="4902399"/>
            <a:ext cx="8220372" cy="114300"/>
            <a:chOff x="0" y="0"/>
            <a:chExt cx="10960497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60608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608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380" y="0"/>
                  </a:lnTo>
                  <a:cubicBezTo>
                    <a:pt x="10939907" y="0"/>
                    <a:pt x="10960608" y="20701"/>
                    <a:pt x="10960608" y="46228"/>
                  </a:cubicBezTo>
                  <a:lnTo>
                    <a:pt x="10960608" y="106172"/>
                  </a:lnTo>
                  <a:cubicBezTo>
                    <a:pt x="10960608" y="131699"/>
                    <a:pt x="10939907" y="152400"/>
                    <a:pt x="10914380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72000" y="4584650"/>
            <a:ext cx="692646" cy="692646"/>
            <a:chOff x="0" y="0"/>
            <a:chExt cx="923528" cy="9235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4779764" y="4672012"/>
            <a:ext cx="276969" cy="43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544" y="5489079"/>
            <a:ext cx="2886224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Driver Circuit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7544" y="5921425"/>
            <a:ext cx="7701557" cy="97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Relay module (AC) or MOSFET/Transistor (DC) for current switching/dimming.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59341" y="4930974"/>
            <a:ext cx="8220521" cy="2074069"/>
            <a:chOff x="0" y="0"/>
            <a:chExt cx="10960695" cy="27654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60736" cy="2765425"/>
            </a:xfrm>
            <a:custGeom>
              <a:avLst/>
              <a:gdLst/>
              <a:ahLst/>
              <a:cxnLst/>
              <a:rect r="r" b="b" t="t" l="l"/>
              <a:pathLst>
                <a:path h="2765425" w="109607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855" y="0"/>
                  </a:lnTo>
                  <a:cubicBezTo>
                    <a:pt x="10878820" y="0"/>
                    <a:pt x="10960736" y="81915"/>
                    <a:pt x="10960736" y="182880"/>
                  </a:cubicBezTo>
                  <a:lnTo>
                    <a:pt x="10960736" y="2582545"/>
                  </a:lnTo>
                  <a:cubicBezTo>
                    <a:pt x="10960736" y="2683510"/>
                    <a:pt x="10878820" y="2765425"/>
                    <a:pt x="10777855" y="2765425"/>
                  </a:cubicBezTo>
                  <a:lnTo>
                    <a:pt x="182880" y="2765425"/>
                  </a:lnTo>
                  <a:cubicBezTo>
                    <a:pt x="81915" y="2765425"/>
                    <a:pt x="0" y="2683510"/>
                    <a:pt x="0" y="258254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59341" y="4902399"/>
            <a:ext cx="8220521" cy="114300"/>
            <a:chOff x="0" y="0"/>
            <a:chExt cx="10960695" cy="152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60735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735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507" y="0"/>
                  </a:lnTo>
                  <a:cubicBezTo>
                    <a:pt x="10940034" y="0"/>
                    <a:pt x="10960735" y="20701"/>
                    <a:pt x="10960735" y="46228"/>
                  </a:cubicBezTo>
                  <a:lnTo>
                    <a:pt x="10960735" y="106172"/>
                  </a:lnTo>
                  <a:cubicBezTo>
                    <a:pt x="10960735" y="131699"/>
                    <a:pt x="10940034" y="152400"/>
                    <a:pt x="10914507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23205" y="4584650"/>
            <a:ext cx="692646" cy="692646"/>
            <a:chOff x="0" y="0"/>
            <a:chExt cx="923528" cy="9235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230969" y="4672012"/>
            <a:ext cx="276969" cy="43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18749" y="5489079"/>
            <a:ext cx="3989189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Lighting Elements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8749" y="5921425"/>
            <a:ext cx="7701706" cy="46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LEDs or compatible dimmable light bulbs.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08136" y="7582197"/>
            <a:ext cx="8220372" cy="2074069"/>
            <a:chOff x="0" y="0"/>
            <a:chExt cx="10960497" cy="27654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60481" cy="2765425"/>
            </a:xfrm>
            <a:custGeom>
              <a:avLst/>
              <a:gdLst/>
              <a:ahLst/>
              <a:cxnLst/>
              <a:rect r="r" b="b" t="t" l="l"/>
              <a:pathLst>
                <a:path h="2765425" w="1096048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601" y="0"/>
                  </a:lnTo>
                  <a:cubicBezTo>
                    <a:pt x="10878566" y="0"/>
                    <a:pt x="10960481" y="81915"/>
                    <a:pt x="10960481" y="182880"/>
                  </a:cubicBezTo>
                  <a:lnTo>
                    <a:pt x="10960481" y="2582545"/>
                  </a:lnTo>
                  <a:cubicBezTo>
                    <a:pt x="10960481" y="2683510"/>
                    <a:pt x="10878566" y="2765425"/>
                    <a:pt x="10777601" y="2765425"/>
                  </a:cubicBezTo>
                  <a:lnTo>
                    <a:pt x="182880" y="2765425"/>
                  </a:lnTo>
                  <a:cubicBezTo>
                    <a:pt x="81915" y="2765425"/>
                    <a:pt x="0" y="2683510"/>
                    <a:pt x="0" y="258254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08136" y="7553622"/>
            <a:ext cx="8220372" cy="114300"/>
            <a:chOff x="0" y="0"/>
            <a:chExt cx="10960497" cy="152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60608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608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380" y="0"/>
                  </a:lnTo>
                  <a:cubicBezTo>
                    <a:pt x="10939907" y="0"/>
                    <a:pt x="10960608" y="20701"/>
                    <a:pt x="10960608" y="46228"/>
                  </a:cubicBezTo>
                  <a:lnTo>
                    <a:pt x="10960608" y="106172"/>
                  </a:lnTo>
                  <a:cubicBezTo>
                    <a:pt x="10960608" y="131699"/>
                    <a:pt x="10939907" y="152400"/>
                    <a:pt x="10914380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572000" y="7235875"/>
            <a:ext cx="692646" cy="692646"/>
            <a:chOff x="0" y="0"/>
            <a:chExt cx="923528" cy="9235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4779764" y="7323236"/>
            <a:ext cx="276969" cy="43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67544" y="8140304"/>
            <a:ext cx="2886224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Accessories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67544" y="8572649"/>
            <a:ext cx="7701557" cy="97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Jumper wires, breadboard, power supply, and resistors.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59341" y="7582197"/>
            <a:ext cx="8220521" cy="2074069"/>
            <a:chOff x="0" y="0"/>
            <a:chExt cx="10960695" cy="27654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60736" cy="2765425"/>
            </a:xfrm>
            <a:custGeom>
              <a:avLst/>
              <a:gdLst/>
              <a:ahLst/>
              <a:cxnLst/>
              <a:rect r="r" b="b" t="t" l="l"/>
              <a:pathLst>
                <a:path h="2765425" w="1096073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77855" y="0"/>
                  </a:lnTo>
                  <a:cubicBezTo>
                    <a:pt x="10878820" y="0"/>
                    <a:pt x="10960736" y="81915"/>
                    <a:pt x="10960736" y="182880"/>
                  </a:cubicBezTo>
                  <a:lnTo>
                    <a:pt x="10960736" y="2582545"/>
                  </a:lnTo>
                  <a:cubicBezTo>
                    <a:pt x="10960736" y="2683510"/>
                    <a:pt x="10878820" y="2765425"/>
                    <a:pt x="10777855" y="2765425"/>
                  </a:cubicBezTo>
                  <a:lnTo>
                    <a:pt x="182880" y="2765425"/>
                  </a:lnTo>
                  <a:cubicBezTo>
                    <a:pt x="81915" y="2765425"/>
                    <a:pt x="0" y="2683510"/>
                    <a:pt x="0" y="2582545"/>
                  </a:cubicBez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59341" y="7553622"/>
            <a:ext cx="8220521" cy="114300"/>
            <a:chOff x="0" y="0"/>
            <a:chExt cx="10960695" cy="152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60735" cy="152400"/>
            </a:xfrm>
            <a:custGeom>
              <a:avLst/>
              <a:gdLst/>
              <a:ahLst/>
              <a:cxnLst/>
              <a:rect r="r" b="b" t="t" l="l"/>
              <a:pathLst>
                <a:path h="152400" w="10960735">
                  <a:moveTo>
                    <a:pt x="0" y="46228"/>
                  </a:moveTo>
                  <a:cubicBezTo>
                    <a:pt x="0" y="20701"/>
                    <a:pt x="20701" y="0"/>
                    <a:pt x="46228" y="0"/>
                  </a:cubicBezTo>
                  <a:lnTo>
                    <a:pt x="10914507" y="0"/>
                  </a:lnTo>
                  <a:cubicBezTo>
                    <a:pt x="10940034" y="0"/>
                    <a:pt x="10960735" y="20701"/>
                    <a:pt x="10960735" y="46228"/>
                  </a:cubicBezTo>
                  <a:lnTo>
                    <a:pt x="10960735" y="106172"/>
                  </a:lnTo>
                  <a:cubicBezTo>
                    <a:pt x="10960735" y="131699"/>
                    <a:pt x="10940034" y="152400"/>
                    <a:pt x="10914507" y="152400"/>
                  </a:cubicBezTo>
                  <a:lnTo>
                    <a:pt x="46228" y="152400"/>
                  </a:lnTo>
                  <a:cubicBezTo>
                    <a:pt x="20701" y="152400"/>
                    <a:pt x="0" y="131699"/>
                    <a:pt x="0" y="1061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023205" y="7235875"/>
            <a:ext cx="692646" cy="692646"/>
            <a:chOff x="0" y="0"/>
            <a:chExt cx="923528" cy="9235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23544" cy="923544"/>
            </a:xfrm>
            <a:custGeom>
              <a:avLst/>
              <a:gdLst/>
              <a:ahLst/>
              <a:cxnLst/>
              <a:rect r="r" b="b" t="t" l="l"/>
              <a:pathLst>
                <a:path h="923544" w="923544">
                  <a:moveTo>
                    <a:pt x="0" y="461772"/>
                  </a:moveTo>
                  <a:cubicBezTo>
                    <a:pt x="0" y="206756"/>
                    <a:pt x="206756" y="0"/>
                    <a:pt x="461772" y="0"/>
                  </a:cubicBezTo>
                  <a:cubicBezTo>
                    <a:pt x="716788" y="0"/>
                    <a:pt x="923544" y="206756"/>
                    <a:pt x="923544" y="461772"/>
                  </a:cubicBezTo>
                  <a:cubicBezTo>
                    <a:pt x="923544" y="716788"/>
                    <a:pt x="716788" y="923544"/>
                    <a:pt x="461772" y="923544"/>
                  </a:cubicBezTo>
                  <a:cubicBezTo>
                    <a:pt x="206756" y="923544"/>
                    <a:pt x="0" y="716788"/>
                    <a:pt x="0" y="461772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230969" y="7323236"/>
            <a:ext cx="276969" cy="432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18749" y="8140304"/>
            <a:ext cx="4371886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Software Interface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18749" y="8572649"/>
            <a:ext cx="8769251" cy="97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12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mobile app (e.g., Connectino, customized Bluetooth terminal) to send commands.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393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2155" y="136007"/>
            <a:ext cx="895389" cy="1059277"/>
            <a:chOff x="0" y="0"/>
            <a:chExt cx="2270234" cy="26857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2636" y="966639"/>
            <a:ext cx="10143931" cy="68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7"/>
              </a:lnSpc>
            </a:pPr>
            <a:r>
              <a:rPr lang="en-US" sz="441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Critical Wiring &amp; Connections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636" y="1855291"/>
            <a:ext cx="10577364" cy="94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</a:pPr>
            <a:r>
              <a:rPr lang="en-US" sz="23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Proper component connection ensures reliable communication and safe light operation.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00712" y="3013621"/>
            <a:ext cx="28575" cy="6287541"/>
            <a:chOff x="0" y="0"/>
            <a:chExt cx="38100" cy="8383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" cy="8383397"/>
            </a:xfrm>
            <a:custGeom>
              <a:avLst/>
              <a:gdLst/>
              <a:ahLst/>
              <a:cxnLst/>
              <a:rect r="r" b="b" t="t" l="l"/>
              <a:pathLst>
                <a:path h="838339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364347"/>
                  </a:lnTo>
                  <a:cubicBezTo>
                    <a:pt x="38100" y="8374888"/>
                    <a:pt x="29591" y="8383397"/>
                    <a:pt x="19050" y="8383397"/>
                  </a:cubicBezTo>
                  <a:cubicBezTo>
                    <a:pt x="8509" y="8383397"/>
                    <a:pt x="0" y="8374888"/>
                    <a:pt x="0" y="8364347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56460" y="3273326"/>
            <a:ext cx="487115" cy="28575"/>
            <a:chOff x="0" y="0"/>
            <a:chExt cx="649487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9478" cy="38100"/>
            </a:xfrm>
            <a:custGeom>
              <a:avLst/>
              <a:gdLst/>
              <a:ahLst/>
              <a:cxnLst/>
              <a:rect r="r" b="b" t="t" l="l"/>
              <a:pathLst>
                <a:path h="38100" w="649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30428" y="0"/>
                  </a:lnTo>
                  <a:cubicBezTo>
                    <a:pt x="640969" y="0"/>
                    <a:pt x="649478" y="8509"/>
                    <a:pt x="649478" y="19050"/>
                  </a:cubicBezTo>
                  <a:cubicBezTo>
                    <a:pt x="649478" y="29591"/>
                    <a:pt x="640969" y="38100"/>
                    <a:pt x="630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623694" y="3196307"/>
            <a:ext cx="182612" cy="182613"/>
            <a:chOff x="0" y="0"/>
            <a:chExt cx="243483" cy="2434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586" cy="243586"/>
            </a:xfrm>
            <a:custGeom>
              <a:avLst/>
              <a:gdLst/>
              <a:ahLst/>
              <a:cxnLst/>
              <a:rect r="r" b="b" t="t" l="l"/>
              <a:pathLst>
                <a:path h="243586" w="243586">
                  <a:moveTo>
                    <a:pt x="0" y="121793"/>
                  </a:moveTo>
                  <a:cubicBezTo>
                    <a:pt x="0" y="54483"/>
                    <a:pt x="54483" y="0"/>
                    <a:pt x="121793" y="0"/>
                  </a:cubicBezTo>
                  <a:cubicBezTo>
                    <a:pt x="189103" y="0"/>
                    <a:pt x="243586" y="54483"/>
                    <a:pt x="243586" y="121793"/>
                  </a:cubicBezTo>
                  <a:cubicBezTo>
                    <a:pt x="243586" y="189103"/>
                    <a:pt x="189103" y="243586"/>
                    <a:pt x="121793" y="243586"/>
                  </a:cubicBezTo>
                  <a:cubicBezTo>
                    <a:pt x="54483" y="243586"/>
                    <a:pt x="0" y="188976"/>
                    <a:pt x="0" y="12179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95301" y="3087737"/>
            <a:ext cx="3045321" cy="39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4"/>
              </a:lnSpc>
            </a:pPr>
            <a:r>
              <a:rPr lang="en-US" sz="25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HC-05 Power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2636" y="3538240"/>
            <a:ext cx="3887986" cy="82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89"/>
              </a:lnSpc>
            </a:pP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Connect </a:t>
            </a:r>
            <a:r>
              <a:rPr lang="en-US" sz="20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VCC to Arduino 5V</a:t>
            </a: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and </a:t>
            </a:r>
            <a:r>
              <a:rPr lang="en-US" sz="20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GND to GND</a:t>
            </a: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686425" y="4734818"/>
            <a:ext cx="487115" cy="28575"/>
            <a:chOff x="0" y="0"/>
            <a:chExt cx="649487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478" cy="38100"/>
            </a:xfrm>
            <a:custGeom>
              <a:avLst/>
              <a:gdLst/>
              <a:ahLst/>
              <a:cxnLst/>
              <a:rect r="r" b="b" t="t" l="l"/>
              <a:pathLst>
                <a:path h="38100" w="649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30428" y="0"/>
                  </a:lnTo>
                  <a:cubicBezTo>
                    <a:pt x="640969" y="0"/>
                    <a:pt x="649478" y="8509"/>
                    <a:pt x="649478" y="19050"/>
                  </a:cubicBezTo>
                  <a:cubicBezTo>
                    <a:pt x="649478" y="29591"/>
                    <a:pt x="640969" y="38100"/>
                    <a:pt x="630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23694" y="4657800"/>
            <a:ext cx="182612" cy="182613"/>
            <a:chOff x="0" y="0"/>
            <a:chExt cx="243483" cy="2434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586" cy="243586"/>
            </a:xfrm>
            <a:custGeom>
              <a:avLst/>
              <a:gdLst/>
              <a:ahLst/>
              <a:cxnLst/>
              <a:rect r="r" b="b" t="t" l="l"/>
              <a:pathLst>
                <a:path h="243586" w="243586">
                  <a:moveTo>
                    <a:pt x="0" y="121793"/>
                  </a:moveTo>
                  <a:cubicBezTo>
                    <a:pt x="0" y="54483"/>
                    <a:pt x="54483" y="0"/>
                    <a:pt x="121793" y="0"/>
                  </a:cubicBezTo>
                  <a:cubicBezTo>
                    <a:pt x="189103" y="0"/>
                    <a:pt x="243586" y="54483"/>
                    <a:pt x="243586" y="121793"/>
                  </a:cubicBezTo>
                  <a:cubicBezTo>
                    <a:pt x="243586" y="189103"/>
                    <a:pt x="189103" y="243586"/>
                    <a:pt x="121793" y="243586"/>
                  </a:cubicBezTo>
                  <a:cubicBezTo>
                    <a:pt x="54483" y="243586"/>
                    <a:pt x="0" y="188976"/>
                    <a:pt x="0" y="12179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689378" y="4549229"/>
            <a:ext cx="5918610" cy="39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Serial Communication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89378" y="4999733"/>
            <a:ext cx="4740623" cy="125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HC-05 TX goes to Arduino RX (Pin 0), and RX goes to Arduino TX (Pin 1) for programming and initial setup.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56460" y="6063109"/>
            <a:ext cx="487115" cy="28575"/>
            <a:chOff x="0" y="0"/>
            <a:chExt cx="649487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9478" cy="38100"/>
            </a:xfrm>
            <a:custGeom>
              <a:avLst/>
              <a:gdLst/>
              <a:ahLst/>
              <a:cxnLst/>
              <a:rect r="r" b="b" t="t" l="l"/>
              <a:pathLst>
                <a:path h="38100" w="649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30428" y="0"/>
                  </a:lnTo>
                  <a:cubicBezTo>
                    <a:pt x="640969" y="0"/>
                    <a:pt x="649478" y="8509"/>
                    <a:pt x="649478" y="19050"/>
                  </a:cubicBezTo>
                  <a:cubicBezTo>
                    <a:pt x="649478" y="29591"/>
                    <a:pt x="640969" y="38100"/>
                    <a:pt x="630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623694" y="5986090"/>
            <a:ext cx="182612" cy="182612"/>
            <a:chOff x="0" y="0"/>
            <a:chExt cx="243483" cy="2434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586" cy="243586"/>
            </a:xfrm>
            <a:custGeom>
              <a:avLst/>
              <a:gdLst/>
              <a:ahLst/>
              <a:cxnLst/>
              <a:rect r="r" b="b" t="t" l="l"/>
              <a:pathLst>
                <a:path h="243586" w="243586">
                  <a:moveTo>
                    <a:pt x="0" y="121793"/>
                  </a:moveTo>
                  <a:cubicBezTo>
                    <a:pt x="0" y="54483"/>
                    <a:pt x="54483" y="0"/>
                    <a:pt x="121793" y="0"/>
                  </a:cubicBezTo>
                  <a:cubicBezTo>
                    <a:pt x="189103" y="0"/>
                    <a:pt x="243586" y="54483"/>
                    <a:pt x="243586" y="121793"/>
                  </a:cubicBezTo>
                  <a:cubicBezTo>
                    <a:pt x="243586" y="189103"/>
                    <a:pt x="189103" y="243586"/>
                    <a:pt x="121793" y="243586"/>
                  </a:cubicBezTo>
                  <a:cubicBezTo>
                    <a:pt x="54483" y="243586"/>
                    <a:pt x="0" y="188976"/>
                    <a:pt x="0" y="12179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695301" y="5877520"/>
            <a:ext cx="3045321" cy="39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4"/>
              </a:lnSpc>
            </a:pPr>
            <a:r>
              <a:rPr lang="en-US" sz="25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Control Signal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0" y="6328022"/>
            <a:ext cx="4740622" cy="168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89"/>
              </a:lnSpc>
            </a:pP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Connect the signal pin of the Relay or the gate of the MOSFET driver to a </a:t>
            </a:r>
            <a:r>
              <a:rPr lang="en-US" sz="20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dedicated Arduino PWM pin</a:t>
            </a: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(e.g., Pin 9 or 10).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686425" y="7391400"/>
            <a:ext cx="487115" cy="28575"/>
            <a:chOff x="0" y="0"/>
            <a:chExt cx="649487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9478" cy="38100"/>
            </a:xfrm>
            <a:custGeom>
              <a:avLst/>
              <a:gdLst/>
              <a:ahLst/>
              <a:cxnLst/>
              <a:rect r="r" b="b" t="t" l="l"/>
              <a:pathLst>
                <a:path h="38100" w="649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30428" y="0"/>
                  </a:lnTo>
                  <a:cubicBezTo>
                    <a:pt x="640969" y="0"/>
                    <a:pt x="649478" y="8509"/>
                    <a:pt x="649478" y="19050"/>
                  </a:cubicBezTo>
                  <a:cubicBezTo>
                    <a:pt x="649478" y="29591"/>
                    <a:pt x="640969" y="38100"/>
                    <a:pt x="630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23694" y="7314381"/>
            <a:ext cx="182612" cy="182612"/>
            <a:chOff x="0" y="0"/>
            <a:chExt cx="243483" cy="2434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586" cy="243586"/>
            </a:xfrm>
            <a:custGeom>
              <a:avLst/>
              <a:gdLst/>
              <a:ahLst/>
              <a:cxnLst/>
              <a:rect r="r" b="b" t="t" l="l"/>
              <a:pathLst>
                <a:path h="243586" w="243586">
                  <a:moveTo>
                    <a:pt x="0" y="121793"/>
                  </a:moveTo>
                  <a:cubicBezTo>
                    <a:pt x="0" y="54483"/>
                    <a:pt x="54483" y="0"/>
                    <a:pt x="121793" y="0"/>
                  </a:cubicBezTo>
                  <a:cubicBezTo>
                    <a:pt x="189103" y="0"/>
                    <a:pt x="243586" y="54483"/>
                    <a:pt x="243586" y="121793"/>
                  </a:cubicBezTo>
                  <a:cubicBezTo>
                    <a:pt x="243586" y="189103"/>
                    <a:pt x="189103" y="243586"/>
                    <a:pt x="121793" y="243586"/>
                  </a:cubicBezTo>
                  <a:cubicBezTo>
                    <a:pt x="54483" y="243586"/>
                    <a:pt x="0" y="188976"/>
                    <a:pt x="0" y="121793"/>
                  </a:cubicBezTo>
                  <a:close/>
                </a:path>
              </a:pathLst>
            </a:custGeom>
            <a:solidFill>
              <a:srgbClr val="E1E1D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689377" y="7205811"/>
            <a:ext cx="3045321" cy="39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74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Light Circuitry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89377" y="7656314"/>
            <a:ext cx="4307190" cy="168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074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light source (LED or AC bulb) must be correctly integrated with the driver, ensuring power safety and dimming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22388" y="678359"/>
            <a:ext cx="11479364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4399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Control Logic &amp; Code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815" y="1759000"/>
            <a:ext cx="16488370" cy="48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4"/>
              </a:lnSpc>
            </a:pPr>
            <a:r>
              <a:rPr lang="en-US" sz="24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software determines how the system interprets commands and controls light output.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815" y="2700337"/>
            <a:ext cx="10897389" cy="86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1787" indent="-165894" lvl="1">
              <a:lnSpc>
                <a:spcPts val="3506"/>
              </a:lnSpc>
              <a:buFont typeface="Arial"/>
              <a:buChar char="•"/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Arduino program constantly monitors the </a:t>
            </a:r>
            <a:r>
              <a:rPr lang="en-US" b="true" sz="2199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Serial Port</a:t>
            </a: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for incoming data from the HC-05.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815" y="3612951"/>
            <a:ext cx="10897389" cy="86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1787" indent="-165894" lvl="1">
              <a:lnSpc>
                <a:spcPts val="3506"/>
              </a:lnSpc>
              <a:buFont typeface="Arial"/>
              <a:buChar char="•"/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Commands can be simple characters ("A" for On, "B" for Off) or a number (0-255) representing the desired brightness level.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815" y="4525566"/>
            <a:ext cx="10897389" cy="86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1787" indent="-165894" lvl="1">
              <a:lnSpc>
                <a:spcPts val="3506"/>
              </a:lnSpc>
              <a:buFont typeface="Arial"/>
              <a:buChar char="•"/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Upon receiving a brightness value (0-255), the Arduino uses the analogWrite() function.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815" y="5438180"/>
            <a:ext cx="10497890" cy="861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1787" indent="-165894" lvl="1">
              <a:lnSpc>
                <a:spcPts val="3506"/>
              </a:lnSpc>
              <a:buFont typeface="Arial"/>
              <a:buChar char="•"/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This function generates the corresponding PWM signal on the connected pin, which directly controls the light intensity.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9815" y="6645325"/>
            <a:ext cx="10497890" cy="2647504"/>
            <a:chOff x="0" y="0"/>
            <a:chExt cx="13997187" cy="35300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97178" cy="3529965"/>
            </a:xfrm>
            <a:custGeom>
              <a:avLst/>
              <a:gdLst/>
              <a:ahLst/>
              <a:cxnLst/>
              <a:rect r="r" b="b" t="t" l="l"/>
              <a:pathLst>
                <a:path h="3529965" w="13997178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3945743" y="0"/>
                  </a:lnTo>
                  <a:cubicBezTo>
                    <a:pt x="13974190" y="0"/>
                    <a:pt x="13997178" y="22987"/>
                    <a:pt x="13997178" y="51435"/>
                  </a:cubicBezTo>
                  <a:lnTo>
                    <a:pt x="13997178" y="3478530"/>
                  </a:lnTo>
                  <a:cubicBezTo>
                    <a:pt x="13997178" y="3506978"/>
                    <a:pt x="13974190" y="3529965"/>
                    <a:pt x="13945743" y="3529965"/>
                  </a:cubicBezTo>
                  <a:lnTo>
                    <a:pt x="51435" y="3529965"/>
                  </a:lnTo>
                  <a:cubicBezTo>
                    <a:pt x="22987" y="3529965"/>
                    <a:pt x="0" y="3506978"/>
                    <a:pt x="0" y="3478530"/>
                  </a:cubicBezTo>
                  <a:close/>
                </a:path>
              </a:pathLst>
            </a:custGeom>
            <a:solidFill>
              <a:srgbClr val="272725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156841" y="7046267"/>
            <a:ext cx="321320" cy="257026"/>
            <a:chOff x="0" y="0"/>
            <a:chExt cx="428427" cy="34270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28371" cy="342646"/>
            </a:xfrm>
            <a:custGeom>
              <a:avLst/>
              <a:gdLst/>
              <a:ahLst/>
              <a:cxnLst/>
              <a:rect r="r" b="b" t="t" l="l"/>
              <a:pathLst>
                <a:path h="342646" w="428371">
                  <a:moveTo>
                    <a:pt x="0" y="0"/>
                  </a:moveTo>
                  <a:lnTo>
                    <a:pt x="428371" y="0"/>
                  </a:lnTo>
                  <a:lnTo>
                    <a:pt x="428371" y="342646"/>
                  </a:lnTo>
                  <a:lnTo>
                    <a:pt x="0" y="342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4" t="0" r="-377" b="-1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35188" y="6861721"/>
            <a:ext cx="9405491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3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Code Example Snippet: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35188" y="7667030"/>
            <a:ext cx="9405491" cy="1208186"/>
            <a:chOff x="0" y="0"/>
            <a:chExt cx="12540655" cy="16109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40615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40615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2489180" y="0"/>
                  </a:lnTo>
                  <a:cubicBezTo>
                    <a:pt x="12517628" y="0"/>
                    <a:pt x="12540615" y="22987"/>
                    <a:pt x="12540615" y="51435"/>
                  </a:cubicBezTo>
                  <a:lnTo>
                    <a:pt x="12540615" y="1559433"/>
                  </a:lnTo>
                  <a:cubicBezTo>
                    <a:pt x="12540615" y="1587881"/>
                    <a:pt x="12517628" y="1610868"/>
                    <a:pt x="12489180" y="1610868"/>
                  </a:cubicBezTo>
                  <a:lnTo>
                    <a:pt x="51435" y="1610868"/>
                  </a:lnTo>
                  <a:cubicBezTo>
                    <a:pt x="22987" y="1610868"/>
                    <a:pt x="0" y="1587881"/>
                    <a:pt x="0" y="1559433"/>
                  </a:cubicBezTo>
                  <a:close/>
                </a:path>
              </a:pathLst>
            </a:custGeom>
            <a:solidFill>
              <a:srgbClr val="2A2A2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2388" y="7667030"/>
            <a:ext cx="9431090" cy="1208186"/>
            <a:chOff x="0" y="0"/>
            <a:chExt cx="12574787" cy="16109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74778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74778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2523343" y="0"/>
                  </a:lnTo>
                  <a:cubicBezTo>
                    <a:pt x="12551791" y="0"/>
                    <a:pt x="12574778" y="22987"/>
                    <a:pt x="12574778" y="51435"/>
                  </a:cubicBezTo>
                  <a:lnTo>
                    <a:pt x="12574778" y="1559433"/>
                  </a:lnTo>
                  <a:cubicBezTo>
                    <a:pt x="12574778" y="1587881"/>
                    <a:pt x="12551791" y="1610868"/>
                    <a:pt x="12523343" y="1610868"/>
                  </a:cubicBezTo>
                  <a:lnTo>
                    <a:pt x="51435" y="1610868"/>
                  </a:lnTo>
                  <a:cubicBezTo>
                    <a:pt x="22987" y="1610868"/>
                    <a:pt x="0" y="1587881"/>
                    <a:pt x="0" y="1559433"/>
                  </a:cubicBezTo>
                  <a:close/>
                </a:path>
              </a:pathLst>
            </a:custGeom>
            <a:solidFill>
              <a:srgbClr val="2A2A2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979414" y="7726412"/>
            <a:ext cx="8917038" cy="93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2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brightness_value = 150; // Value received via BluetoothanalogWrite(PWM_pin, brightness_value);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034391" y="2853481"/>
            <a:ext cx="5363170" cy="5363170"/>
            <a:chOff x="0" y="0"/>
            <a:chExt cx="7150893" cy="7150893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150862" cy="7150862"/>
            </a:xfrm>
            <a:custGeom>
              <a:avLst/>
              <a:gdLst/>
              <a:ahLst/>
              <a:cxnLst/>
              <a:rect r="r" b="b" t="t" l="l"/>
              <a:pathLst>
                <a:path h="7150862" w="7150862">
                  <a:moveTo>
                    <a:pt x="0" y="0"/>
                  </a:moveTo>
                  <a:lnTo>
                    <a:pt x="7150862" y="0"/>
                  </a:lnTo>
                  <a:lnTo>
                    <a:pt x="7150862" y="7150862"/>
                  </a:lnTo>
                  <a:lnTo>
                    <a:pt x="0" y="715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393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239" y="140883"/>
            <a:ext cx="1042602" cy="1233436"/>
            <a:chOff x="0" y="0"/>
            <a:chExt cx="2270234" cy="26857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70252" cy="2685796"/>
            </a:xfrm>
            <a:custGeom>
              <a:avLst/>
              <a:gdLst/>
              <a:ahLst/>
              <a:cxnLst/>
              <a:rect r="r" b="b" t="t" l="l"/>
              <a:pathLst>
                <a:path h="2685796" w="2270252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305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785813"/>
            <a:ext cx="3214688" cy="3214688"/>
            <a:chOff x="0" y="0"/>
            <a:chExt cx="4286250" cy="428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6250" cy="4286250"/>
            </a:xfrm>
            <a:custGeom>
              <a:avLst/>
              <a:gdLst/>
              <a:ahLst/>
              <a:cxnLst/>
              <a:rect r="r" b="b" t="t" l="l"/>
              <a:pathLst>
                <a:path h="42862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214688" y="785813"/>
            <a:ext cx="3888432" cy="3214688"/>
            <a:chOff x="0" y="0"/>
            <a:chExt cx="5184576" cy="4286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84521" cy="4286250"/>
            </a:xfrm>
            <a:custGeom>
              <a:avLst/>
              <a:gdLst/>
              <a:ahLst/>
              <a:cxnLst/>
              <a:rect r="r" b="b" t="t" l="l"/>
              <a:pathLst>
                <a:path h="4286250" w="5184521">
                  <a:moveTo>
                    <a:pt x="0" y="0"/>
                  </a:moveTo>
                  <a:lnTo>
                    <a:pt x="5184521" y="0"/>
                  </a:lnTo>
                  <a:lnTo>
                    <a:pt x="5184521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023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039851" y="785813"/>
            <a:ext cx="3465899" cy="2647574"/>
            <a:chOff x="0" y="0"/>
            <a:chExt cx="5611064" cy="4286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11114" cy="4286250"/>
            </a:xfrm>
            <a:custGeom>
              <a:avLst/>
              <a:gdLst/>
              <a:ahLst/>
              <a:cxnLst/>
              <a:rect r="r" b="b" t="t" l="l"/>
              <a:pathLst>
                <a:path h="4286250" w="5611114">
                  <a:moveTo>
                    <a:pt x="0" y="0"/>
                  </a:moveTo>
                  <a:lnTo>
                    <a:pt x="5611114" y="0"/>
                  </a:lnTo>
                  <a:lnTo>
                    <a:pt x="5611114" y="4286250"/>
                  </a:lnTo>
                  <a:lnTo>
                    <a:pt x="0" y="428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3005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505750" y="785813"/>
            <a:ext cx="4034719" cy="2811785"/>
            <a:chOff x="0" y="0"/>
            <a:chExt cx="6213966" cy="4330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3983" cy="4330446"/>
            </a:xfrm>
            <a:custGeom>
              <a:avLst/>
              <a:gdLst/>
              <a:ahLst/>
              <a:cxnLst/>
              <a:rect r="r" b="b" t="t" l="l"/>
              <a:pathLst>
                <a:path h="4330446" w="6213983">
                  <a:moveTo>
                    <a:pt x="0" y="0"/>
                  </a:moveTo>
                  <a:lnTo>
                    <a:pt x="6213983" y="0"/>
                  </a:lnTo>
                  <a:lnTo>
                    <a:pt x="6213983" y="4330446"/>
                  </a:lnTo>
                  <a:lnTo>
                    <a:pt x="0" y="4330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3494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540469" y="785813"/>
            <a:ext cx="3711631" cy="2811785"/>
            <a:chOff x="0" y="0"/>
            <a:chExt cx="6154412" cy="46623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54420" cy="4662297"/>
            </a:xfrm>
            <a:custGeom>
              <a:avLst/>
              <a:gdLst/>
              <a:ahLst/>
              <a:cxnLst/>
              <a:rect r="r" b="b" t="t" l="l"/>
              <a:pathLst>
                <a:path h="4662297" w="6154420">
                  <a:moveTo>
                    <a:pt x="0" y="0"/>
                  </a:moveTo>
                  <a:lnTo>
                    <a:pt x="6154420" y="0"/>
                  </a:lnTo>
                  <a:lnTo>
                    <a:pt x="6154420" y="4662297"/>
                  </a:lnTo>
                  <a:lnTo>
                    <a:pt x="0" y="4662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1123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95534" y="6105981"/>
            <a:ext cx="5668548" cy="4013655"/>
            <a:chOff x="0" y="0"/>
            <a:chExt cx="7558064" cy="5351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8024" cy="5351526"/>
            </a:xfrm>
            <a:custGeom>
              <a:avLst/>
              <a:gdLst/>
              <a:ahLst/>
              <a:cxnLst/>
              <a:rect r="r" b="b" t="t" l="l"/>
              <a:pathLst>
                <a:path h="5351526" w="7558024">
                  <a:moveTo>
                    <a:pt x="0" y="0"/>
                  </a:moveTo>
                  <a:lnTo>
                    <a:pt x="7558024" y="0"/>
                  </a:lnTo>
                  <a:lnTo>
                    <a:pt x="7558024" y="5351526"/>
                  </a:lnTo>
                  <a:lnTo>
                    <a:pt x="0" y="535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9" r="0" b="-29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868932" y="6105981"/>
            <a:ext cx="5128485" cy="4013655"/>
            <a:chOff x="0" y="0"/>
            <a:chExt cx="6837980" cy="53515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37934" cy="5351526"/>
            </a:xfrm>
            <a:custGeom>
              <a:avLst/>
              <a:gdLst/>
              <a:ahLst/>
              <a:cxnLst/>
              <a:rect r="r" b="b" t="t" l="l"/>
              <a:pathLst>
                <a:path h="5351526" w="6837934">
                  <a:moveTo>
                    <a:pt x="0" y="0"/>
                  </a:moveTo>
                  <a:lnTo>
                    <a:pt x="6837934" y="0"/>
                  </a:lnTo>
                  <a:lnTo>
                    <a:pt x="6837934" y="5351526"/>
                  </a:lnTo>
                  <a:lnTo>
                    <a:pt x="0" y="535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3" r="0" b="-5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704950" y="6067517"/>
            <a:ext cx="5226780" cy="4090583"/>
            <a:chOff x="0" y="0"/>
            <a:chExt cx="6837980" cy="5351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37934" cy="5351526"/>
            </a:xfrm>
            <a:custGeom>
              <a:avLst/>
              <a:gdLst/>
              <a:ahLst/>
              <a:cxnLst/>
              <a:rect r="r" b="b" t="t" l="l"/>
              <a:pathLst>
                <a:path h="5351526" w="6837934">
                  <a:moveTo>
                    <a:pt x="0" y="0"/>
                  </a:moveTo>
                  <a:lnTo>
                    <a:pt x="6837934" y="0"/>
                  </a:lnTo>
                  <a:lnTo>
                    <a:pt x="6837934" y="5351526"/>
                  </a:lnTo>
                  <a:lnTo>
                    <a:pt x="0" y="535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3" r="0" b="-5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60472" y="-28575"/>
            <a:ext cx="5345405" cy="7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4"/>
              </a:lnSpc>
            </a:pPr>
            <a:r>
              <a:rPr lang="en-US" sz="47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Components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68776" y="4752645"/>
            <a:ext cx="10982473" cy="7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4"/>
              </a:lnSpc>
            </a:pPr>
            <a:r>
              <a:rPr lang="en-US" sz="47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070" y="4199162"/>
            <a:ext cx="1208548" cy="39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508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LED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21467" y="4199162"/>
            <a:ext cx="2439005" cy="78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8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M-M wires</a:t>
            </a:r>
          </a:p>
          <a:p>
            <a:pPr algn="l">
              <a:lnSpc>
                <a:spcPts val="312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868776" y="3750171"/>
            <a:ext cx="2301396" cy="48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EFEF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Bread 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13097" y="3749497"/>
            <a:ext cx="3832893" cy="39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508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Bluetooth Module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35746" y="3749497"/>
            <a:ext cx="3832893" cy="39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6"/>
              </a:lnSpc>
            </a:pPr>
            <a:r>
              <a:rPr lang="en-US" sz="2508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AURDINO UNO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207740"/>
            <a:ext cx="10750897" cy="73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4637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Demonstration &amp;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13086"/>
            <a:ext cx="16303526" cy="360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Seamless Ambiance Control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60409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Mobile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7131398"/>
            <a:ext cx="5198269" cy="9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user interacts with a simple, intuitive app on their smartphone.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6604099"/>
            <a:ext cx="574433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Real-Time Dimming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4866" y="7131397"/>
            <a:ext cx="5198269" cy="138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Light intensity changes instantaneously as the user moves the slider or taps a preset button.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7494" y="660409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Key Benefits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7494" y="7131397"/>
            <a:ext cx="5747580" cy="184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Provides wireless convenience, significant energy savings through dimming, and highly customizable room ambiance.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393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D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D1D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7107" y="685949"/>
            <a:ext cx="10982473" cy="7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4"/>
              </a:lnSpc>
            </a:pPr>
            <a:r>
              <a:rPr lang="en-US" sz="4762" b="true">
                <a:solidFill>
                  <a:srgbClr val="EDEDE8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7107" y="1766293"/>
            <a:ext cx="16473785" cy="49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This proof-of-concept project establishes a foundation for advanced smart lighting systems.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52689" y="2586632"/>
            <a:ext cx="2745581" cy="1907530"/>
            <a:chOff x="0" y="0"/>
            <a:chExt cx="3660775" cy="25433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0775" cy="2543302"/>
            </a:xfrm>
            <a:custGeom>
              <a:avLst/>
              <a:gdLst/>
              <a:ahLst/>
              <a:cxnLst/>
              <a:rect r="r" b="b" t="t" l="l"/>
              <a:pathLst>
                <a:path h="2543302" w="3660775">
                  <a:moveTo>
                    <a:pt x="0" y="51816"/>
                  </a:moveTo>
                  <a:cubicBezTo>
                    <a:pt x="0" y="23241"/>
                    <a:pt x="23241" y="0"/>
                    <a:pt x="51816" y="0"/>
                  </a:cubicBezTo>
                  <a:lnTo>
                    <a:pt x="3608959" y="0"/>
                  </a:lnTo>
                  <a:cubicBezTo>
                    <a:pt x="3637534" y="0"/>
                    <a:pt x="3660775" y="23241"/>
                    <a:pt x="3660775" y="51816"/>
                  </a:cubicBezTo>
                  <a:lnTo>
                    <a:pt x="3660775" y="2491486"/>
                  </a:lnTo>
                  <a:cubicBezTo>
                    <a:pt x="3660775" y="2520061"/>
                    <a:pt x="3637534" y="2543302"/>
                    <a:pt x="3608959" y="2543302"/>
                  </a:cubicBezTo>
                  <a:lnTo>
                    <a:pt x="51816" y="2543302"/>
                  </a:lnTo>
                  <a:cubicBezTo>
                    <a:pt x="23241" y="2543302"/>
                    <a:pt x="0" y="2520061"/>
                    <a:pt x="0" y="2491486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4843314" y="3358157"/>
            <a:ext cx="364331" cy="364331"/>
          </a:xfrm>
          <a:custGeom>
            <a:avLst/>
            <a:gdLst/>
            <a:ahLst/>
            <a:cxnLst/>
            <a:rect r="r" b="b" t="t" l="l"/>
            <a:pathLst>
              <a:path h="364331" w="364331">
                <a:moveTo>
                  <a:pt x="0" y="0"/>
                </a:moveTo>
                <a:lnTo>
                  <a:pt x="364331" y="0"/>
                </a:lnTo>
                <a:lnTo>
                  <a:pt x="364331" y="364332"/>
                </a:lnTo>
                <a:lnTo>
                  <a:pt x="0" y="364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128" r="0" b="-512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57380" y="2836217"/>
            <a:ext cx="3239691" cy="41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Future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57380" y="3310830"/>
            <a:ext cx="10464404" cy="87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Integrate external sensors (e.g., proximity or ambient light) for automatic intensity adjustment or hands-free voice control.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7750" y="4482256"/>
            <a:ext cx="10723661" cy="14288"/>
            <a:chOff x="0" y="0"/>
            <a:chExt cx="14298215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98168" cy="19050"/>
            </a:xfrm>
            <a:custGeom>
              <a:avLst/>
              <a:gdLst/>
              <a:ahLst/>
              <a:cxnLst/>
              <a:rect r="r" b="b" t="t" l="l"/>
              <a:pathLst>
                <a:path h="19050" w="14298168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4288643" y="0"/>
                  </a:lnTo>
                  <a:cubicBezTo>
                    <a:pt x="14293850" y="0"/>
                    <a:pt x="14298168" y="4318"/>
                    <a:pt x="14298168" y="9525"/>
                  </a:cubicBezTo>
                  <a:cubicBezTo>
                    <a:pt x="14298168" y="14732"/>
                    <a:pt x="14293850" y="19050"/>
                    <a:pt x="14288643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279898" y="4623644"/>
            <a:ext cx="5491162" cy="1907530"/>
            <a:chOff x="0" y="0"/>
            <a:chExt cx="7321550" cy="25433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21550" cy="2543302"/>
            </a:xfrm>
            <a:custGeom>
              <a:avLst/>
              <a:gdLst/>
              <a:ahLst/>
              <a:cxnLst/>
              <a:rect r="r" b="b" t="t" l="l"/>
              <a:pathLst>
                <a:path h="2543302" w="7321550">
                  <a:moveTo>
                    <a:pt x="0" y="51816"/>
                  </a:moveTo>
                  <a:cubicBezTo>
                    <a:pt x="0" y="23241"/>
                    <a:pt x="23241" y="0"/>
                    <a:pt x="51816" y="0"/>
                  </a:cubicBezTo>
                  <a:lnTo>
                    <a:pt x="7269734" y="0"/>
                  </a:lnTo>
                  <a:cubicBezTo>
                    <a:pt x="7298309" y="0"/>
                    <a:pt x="7321550" y="23241"/>
                    <a:pt x="7321550" y="51816"/>
                  </a:cubicBezTo>
                  <a:lnTo>
                    <a:pt x="7321550" y="2491486"/>
                  </a:lnTo>
                  <a:cubicBezTo>
                    <a:pt x="7321550" y="2520061"/>
                    <a:pt x="7298309" y="2543302"/>
                    <a:pt x="7269734" y="2543302"/>
                  </a:cubicBezTo>
                  <a:lnTo>
                    <a:pt x="51816" y="2543302"/>
                  </a:lnTo>
                  <a:cubicBezTo>
                    <a:pt x="23241" y="2543302"/>
                    <a:pt x="0" y="2520061"/>
                    <a:pt x="0" y="2491486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4843314" y="5395169"/>
            <a:ext cx="364331" cy="364331"/>
          </a:xfrm>
          <a:custGeom>
            <a:avLst/>
            <a:gdLst/>
            <a:ahLst/>
            <a:cxnLst/>
            <a:rect r="r" b="b" t="t" l="l"/>
            <a:pathLst>
              <a:path h="364331" w="364331">
                <a:moveTo>
                  <a:pt x="0" y="0"/>
                </a:moveTo>
                <a:lnTo>
                  <a:pt x="364331" y="0"/>
                </a:lnTo>
                <a:lnTo>
                  <a:pt x="364331" y="364331"/>
                </a:lnTo>
                <a:lnTo>
                  <a:pt x="0" y="3643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2" r="0" b="-128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030170" y="4873229"/>
            <a:ext cx="3239691" cy="41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Enhanced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30170" y="5347841"/>
            <a:ext cx="9091613" cy="87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Upgrade to RGB LEDs and expand the control logic to manage color palettes and dynamic lighting effects.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00541" y="6519267"/>
            <a:ext cx="9350871" cy="14288"/>
            <a:chOff x="0" y="0"/>
            <a:chExt cx="12467828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67844" cy="19050"/>
            </a:xfrm>
            <a:custGeom>
              <a:avLst/>
              <a:gdLst/>
              <a:ahLst/>
              <a:cxnLst/>
              <a:rect r="r" b="b" t="t" l="l"/>
              <a:pathLst>
                <a:path h="19050" w="12467844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2458319" y="0"/>
                  </a:lnTo>
                  <a:cubicBezTo>
                    <a:pt x="12463525" y="0"/>
                    <a:pt x="12467844" y="4318"/>
                    <a:pt x="12467844" y="9525"/>
                  </a:cubicBezTo>
                  <a:cubicBezTo>
                    <a:pt x="12467844" y="14732"/>
                    <a:pt x="12463525" y="19050"/>
                    <a:pt x="12458319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555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07108" y="6660654"/>
            <a:ext cx="8236892" cy="1907530"/>
            <a:chOff x="0" y="0"/>
            <a:chExt cx="10982523" cy="25433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2451" cy="2543302"/>
            </a:xfrm>
            <a:custGeom>
              <a:avLst/>
              <a:gdLst/>
              <a:ahLst/>
              <a:cxnLst/>
              <a:rect r="r" b="b" t="t" l="l"/>
              <a:pathLst>
                <a:path h="2543302" w="10982451">
                  <a:moveTo>
                    <a:pt x="0" y="51816"/>
                  </a:moveTo>
                  <a:cubicBezTo>
                    <a:pt x="0" y="23241"/>
                    <a:pt x="23241" y="0"/>
                    <a:pt x="51816" y="0"/>
                  </a:cubicBezTo>
                  <a:lnTo>
                    <a:pt x="10930636" y="0"/>
                  </a:lnTo>
                  <a:cubicBezTo>
                    <a:pt x="10959211" y="0"/>
                    <a:pt x="10982451" y="23241"/>
                    <a:pt x="10982451" y="51816"/>
                  </a:cubicBezTo>
                  <a:lnTo>
                    <a:pt x="10982451" y="2491486"/>
                  </a:lnTo>
                  <a:cubicBezTo>
                    <a:pt x="10982451" y="2520061"/>
                    <a:pt x="10959211" y="2543302"/>
                    <a:pt x="10930636" y="2543302"/>
                  </a:cubicBezTo>
                  <a:lnTo>
                    <a:pt x="51816" y="2543302"/>
                  </a:lnTo>
                  <a:cubicBezTo>
                    <a:pt x="23241" y="2543302"/>
                    <a:pt x="0" y="2520061"/>
                    <a:pt x="0" y="2491486"/>
                  </a:cubicBezTo>
                  <a:close/>
                </a:path>
              </a:pathLst>
            </a:custGeom>
            <a:solidFill>
              <a:srgbClr val="3C3C3A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4843314" y="7432179"/>
            <a:ext cx="364331" cy="364331"/>
          </a:xfrm>
          <a:custGeom>
            <a:avLst/>
            <a:gdLst/>
            <a:ahLst/>
            <a:cxnLst/>
            <a:rect r="r" b="b" t="t" l="l"/>
            <a:pathLst>
              <a:path h="364331" w="364331">
                <a:moveTo>
                  <a:pt x="0" y="0"/>
                </a:moveTo>
                <a:lnTo>
                  <a:pt x="364331" y="0"/>
                </a:lnTo>
                <a:lnTo>
                  <a:pt x="364331" y="364331"/>
                </a:lnTo>
                <a:lnTo>
                  <a:pt x="0" y="3643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403110" y="6910239"/>
            <a:ext cx="3239691" cy="41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 b="true">
                <a:solidFill>
                  <a:srgbClr val="C9C9C0"/>
                </a:solidFill>
                <a:latin typeface="Tomorrow Bold"/>
                <a:ea typeface="Tomorrow Bold"/>
                <a:cs typeface="Tomorrow Bold"/>
                <a:sym typeface="Tomorrow Bold"/>
              </a:rPr>
              <a:t>Affordable 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03110" y="7384851"/>
            <a:ext cx="7718672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Bluetooth and Arduino offer an affordable, flexible platform for building custom smart home automation features.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893463" y="114768"/>
            <a:ext cx="1394537" cy="1231948"/>
            <a:chOff x="0" y="0"/>
            <a:chExt cx="3040228" cy="26857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40253" cy="2685796"/>
            </a:xfrm>
            <a:custGeom>
              <a:avLst/>
              <a:gdLst/>
              <a:ahLst/>
              <a:cxnLst/>
              <a:rect r="r" b="b" t="t" l="l"/>
              <a:pathLst>
                <a:path h="2685796" w="3040253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1393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DAG3tcRteyo</dc:identifier>
  <dcterms:modified xsi:type="dcterms:W3CDTF">2011-08-01T06:04:30Z</dcterms:modified>
  <cp:revision>1</cp:revision>
  <dc:title>Controlling-Room-Light-Intensity-Using-Arduino-and-Bluetooth-Module-HC-05.pptx</dc:title>
</cp:coreProperties>
</file>