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96" r:id="rId1"/>
  </p:sldMasterIdLst>
  <p:notesMasterIdLst>
    <p:notesMasterId r:id="rId16"/>
  </p:notesMasterIdLst>
  <p:sldIdLst>
    <p:sldId id="319" r:id="rId2"/>
    <p:sldId id="316" r:id="rId3"/>
    <p:sldId id="416" r:id="rId4"/>
    <p:sldId id="417" r:id="rId5"/>
    <p:sldId id="421" r:id="rId6"/>
    <p:sldId id="429" r:id="rId7"/>
    <p:sldId id="430" r:id="rId8"/>
    <p:sldId id="431" r:id="rId9"/>
    <p:sldId id="432" r:id="rId10"/>
    <p:sldId id="422" r:id="rId11"/>
    <p:sldId id="428" r:id="rId12"/>
    <p:sldId id="423" r:id="rId13"/>
    <p:sldId id="427" r:id="rId14"/>
    <p:sldId id="433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99"/>
    <a:srgbClr val="FFE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55" autoAdjust="0"/>
    <p:restoredTop sz="94291" autoAdjust="0"/>
  </p:normalViewPr>
  <p:slideViewPr>
    <p:cSldViewPr>
      <p:cViewPr varScale="1">
        <p:scale>
          <a:sx n="82" d="100"/>
          <a:sy n="82" d="100"/>
        </p:scale>
        <p:origin x="1426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 v Sai Kumar" userId="4605bc5144c9657b" providerId="LiveId" clId="{28EA5568-B730-43A7-9F28-63BAF175C151}"/>
    <pc:docChg chg="modSld">
      <pc:chgData name="d v Sai Kumar" userId="4605bc5144c9657b" providerId="LiveId" clId="{28EA5568-B730-43A7-9F28-63BAF175C151}" dt="2025-12-04T08:37:52.423" v="0" actId="20577"/>
      <pc:docMkLst>
        <pc:docMk/>
      </pc:docMkLst>
      <pc:sldChg chg="modSp mod">
        <pc:chgData name="d v Sai Kumar" userId="4605bc5144c9657b" providerId="LiveId" clId="{28EA5568-B730-43A7-9F28-63BAF175C151}" dt="2025-12-04T08:37:52.423" v="0" actId="20577"/>
        <pc:sldMkLst>
          <pc:docMk/>
          <pc:sldMk cId="584522440" sldId="430"/>
        </pc:sldMkLst>
        <pc:spChg chg="mod">
          <ac:chgData name="d v Sai Kumar" userId="4605bc5144c9657b" providerId="LiveId" clId="{28EA5568-B730-43A7-9F28-63BAF175C151}" dt="2025-12-04T08:37:52.423" v="0" actId="20577"/>
          <ac:spMkLst>
            <pc:docMk/>
            <pc:sldMk cId="584522440" sldId="430"/>
            <ac:spMk id="6" creationId="{6174CF1A-3928-D2B3-2F18-899D14F3CD3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8B2BDBFC-A737-4674-95A6-BD8FC3BBB88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57087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3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/>
            <a:fld id="{D9FA2010-55FA-4547-918F-B81D2B6C3183}" type="slidenum">
              <a:rPr lang="en-US" smtClean="0">
                <a:solidFill>
                  <a:srgbClr val="000000"/>
                </a:solidFill>
                <a:latin typeface="Calibri" pitchFamily="34" charset="0"/>
              </a:rPr>
              <a:pPr eaLnBrk="1" hangingPunct="1"/>
              <a:t>1</a:t>
            </a:fld>
            <a:endParaRPr lang="en-US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6227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D1301E2-06EF-4199-A0C2-61C79D07C605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2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63862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445B1B0D-FD3A-430C-B5E7-9A25F0634E5E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2475" cy="34226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4" name="Text Box 4"/>
          <p:cNvSpPr txBox="1">
            <a:spLocks noChangeArrowheads="1"/>
          </p:cNvSpPr>
          <p:nvPr/>
        </p:nvSpPr>
        <p:spPr bwMode="auto">
          <a:xfrm>
            <a:off x="685800" y="4343400"/>
            <a:ext cx="5480050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87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90420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363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2015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67395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45511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2716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83813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432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384E2-29B2-473B-9B15-FB4162EA3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D68E3-377A-4EAB-A8AF-AC22ADEAD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2E3E1-B583-4E22-BE6E-DB39F8DC1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F78D47-8FFD-4512-8D28-D7D30AA2420B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A822F-80C2-4CE2-8FD6-7812B2458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2E405-DC72-42EB-9829-2FE185B4D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4C9596-1561-4F47-B169-6589373C9CB0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E181AF60-5A91-4EB3-9801-1AB645A82A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162800" y="152400"/>
            <a:ext cx="1981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2000" u="sng">
                <a:latin typeface="AvantGarde" pitchFamily="34" charset="0"/>
                <a:ea typeface="宋体" pitchFamily="2" charset="-122"/>
              </a:rPr>
              <a:t>Outline</a:t>
            </a:r>
          </a:p>
        </p:txBody>
      </p:sp>
      <p:sp>
        <p:nvSpPr>
          <p:cNvPr id="8" name="AutoShape 2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E8136274-00DC-4015-BD06-CB923B2CB4A5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7086600" y="76200"/>
            <a:ext cx="304800" cy="304800"/>
          </a:xfrm>
          <a:prstGeom prst="actionButtonBackPreviou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9" name="AutoShape 2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276CE5E1-8B14-4CB7-BB74-EE3BFC3E9341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7086600" y="457200"/>
            <a:ext cx="304800" cy="304800"/>
          </a:xfrm>
          <a:prstGeom prst="actionButtonBackPreviou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" name="Rectangle 25">
            <a:extLst>
              <a:ext uri="{FF2B5EF4-FFF2-40B4-BE49-F238E27FC236}">
                <a16:creationId xmlns:a16="http://schemas.microsoft.com/office/drawing/2014/main" id="{5AFFD8CA-10EA-457A-8509-BF108EEBF4B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05600" y="838200"/>
            <a:ext cx="24384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0"/>
              </a:spcBef>
              <a:defRPr/>
            </a:pPr>
            <a:endParaRPr lang="zh-CN" altLang="en-US" sz="1400" b="1">
              <a:solidFill>
                <a:schemeClr val="tx1"/>
              </a:solidFill>
              <a:latin typeface="AvantGarde" pitchFamily="34" charset="0"/>
              <a:ea typeface="宋体" pitchFamily="2" charset="-122"/>
            </a:endParaRPr>
          </a:p>
        </p:txBody>
      </p:sp>
      <p:sp>
        <p:nvSpPr>
          <p:cNvPr id="11" name="Text Box 30">
            <a:extLst>
              <a:ext uri="{FF2B5EF4-FFF2-40B4-BE49-F238E27FC236}">
                <a16:creationId xmlns:a16="http://schemas.microsoft.com/office/drawing/2014/main" id="{AD926431-C4E0-4676-B855-D73EE2A09F8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400800"/>
            <a:ext cx="66294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© Copyright 1992–2004 by Deitel &amp; Associates, Inc. and Pearson Education Inc. All Rights Reserved</a:t>
            </a:r>
            <a:r>
              <a:rPr lang="en-US" altLang="zh-CN">
                <a:solidFill>
                  <a:schemeClr val="tx1"/>
                </a:solidFill>
                <a:latin typeface="AvantGarde" pitchFamily="34" charset="0"/>
                <a:ea typeface="宋体" pitchFamily="2" charset="-122"/>
              </a:rPr>
              <a:t>.</a:t>
            </a:r>
            <a:endParaRPr lang="en-US" altLang="zh-CN">
              <a:solidFill>
                <a:schemeClr val="tx1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316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DAA1-91C1-4C5F-BDAF-DB5E286AF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B7DB8-FB8B-4B9E-8D4D-92B066231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A8477-CC20-4B19-8C40-5C3108AA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B5869-6686-4410-86B5-DEDA700B1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7A075-549C-4AF2-A490-06220BB47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8538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F0302-840F-4D7C-A473-8F1FA23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EAA85-2EB0-46D1-8E1D-33041FE1A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DA50A-DEF0-4838-965D-2E76434C5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2CB087-0400-4922-9F91-7DC9C4839E49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481AD-E714-4546-B61C-28522DCEE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24374-8573-4A69-8B2D-46884D6B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98A58D-B9CE-4CA6-847A-291E9451A79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1339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B73E2-6CF0-4817-A81C-455BCFE3B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C7447-B2F6-496B-9572-086101E6A9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AFD9FF-A74B-4C54-961B-A95AFEDA0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CA999-851E-45D0-B22E-65845B3C8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C68D67-6EB7-4DC7-9727-8391EC2B56EB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63D65-6214-4D89-9B12-A1303BB86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6AFBC-A822-4087-96EA-8D612442F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37AD23-FB29-4133-9724-124394767C7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836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74298-9AF2-422D-B1EE-A63202D1F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88915-ED0B-49F9-8A7E-97BC9A25C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DCCA7-A896-4ECA-8801-07EC748A3A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6CA394-0114-4A88-8527-45CD39E85A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D45D6-DF9F-411C-8263-95475B58DE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5DC717-99B0-42A5-9016-36F5FE84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034FBC-27D4-4810-9F83-B836C1894235}" type="datetime1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3E3F6-1870-49CB-A56B-B66C9CC60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C8AFB7-E09C-42AD-ACDD-82742BE2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283AFB-95D9-4C50-9E69-CCF772E78D2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5271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93A4D-7883-4BA4-A2EB-658270814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10DCD-0278-4783-9E0B-E62B90207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852B12-B03F-401A-B09A-22FF8A471D26}" type="datetime1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BC42EA-D385-492C-BDEB-CE2972FEC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A570D7-30EE-450C-858E-17211BA92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07ACE5-6DCF-44B1-BCE5-AED4F1432B7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0673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E67E85-4812-46FA-B55A-8C0346CBD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DBACEB-86B6-4549-86D9-546E8B661F1D}" type="datetime1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8FB567-7683-4806-A86E-0F37B1E56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409E3-4A1F-4B6F-A6B3-369926225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597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6DCF0-48BD-4DDA-B92F-E29D6B922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4CF3D-354D-4A6E-AF1B-E13A3F4A2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FBFFEF-0518-4957-93D5-89857DDCB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CA3D9-AA64-4F05-84FA-0B1ED13AD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43E961-2071-4164-A816-F9134ED2D6BA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CA81AD-DB12-49BE-A4B7-61A1EEFFF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C6E26-110D-432F-9EA4-F7542D48C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0F9606-3640-4612-B129-D14368C5360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9643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2DCB-3EA8-4C02-A5BB-2D8C09FA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6004F2-CF89-4A93-901F-8580E2416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2AF3AE-E0F2-4DBA-8DA2-1FFC94CDF0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D77BD-42F8-4BBF-93D1-C1BD19FAE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0EB93D-55FD-41C9-8418-0659BC3F3680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1D6FD-3EDE-4090-982B-7A76CCC53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639B87-141A-4F5C-AA21-79CB16928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C7D8D7-F45D-4981-8A87-AE77D5099B4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2346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7C0F5-CC60-4A58-B110-71E849CD3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67BBE7-791B-47E0-8342-5D74B6392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19286-9FBD-4324-B4CF-37E961729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339E02-518C-45D4-AFEA-20FF5E86475A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4643B-B0CA-4F1F-B7DF-0676622B2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3A957-2CC5-4C83-BC04-44A9E0CA7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47999E-7031-42ED-94DE-C845CFFA06BB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7826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0B0C1B-8D93-465F-BCFF-41798B385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9AA99D-FF1A-45BD-AAC1-C51920680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2DCF0-D048-4B37-9FD8-5FF8AE6C4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03D3B3-07F5-4EA3-B17D-BBF195AEF26D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2C259-4962-46D2-B0E4-9EA9A950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C994C-4A19-4C0F-9F87-C20387017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008B66-D13B-4331-A839-75D7D9B9D9C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1268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C28140-F895-4F06-BF88-42CCEA259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7FC8D-C02F-4F4C-A012-39ECF4179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6592A-D9CF-46D3-92CD-2CD6BB05C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EE1A3FC-59CE-474D-9569-50AD22CC8E28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76B21-0471-40FC-AD3A-A998605359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E1B8B-8F02-4176-8EF5-DB3DCA2D70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B166E11-64E3-4F73-B04E-7F106BCFFF09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6767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AutoShape 3"/>
          <p:cNvSpPr>
            <a:spLocks noChangeArrowheads="1"/>
          </p:cNvSpPr>
          <p:nvPr/>
        </p:nvSpPr>
        <p:spPr bwMode="auto">
          <a:xfrm>
            <a:off x="2133600" y="2057400"/>
            <a:ext cx="5943600" cy="80327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8" name="Text Box 2"/>
          <p:cNvSpPr txBox="1">
            <a:spLocks noChangeArrowheads="1"/>
          </p:cNvSpPr>
          <p:nvPr/>
        </p:nvSpPr>
        <p:spPr bwMode="auto">
          <a:xfrm>
            <a:off x="228600" y="1711485"/>
            <a:ext cx="8686800" cy="4841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marL="365125"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Designing a Scalable Online Shopping System – Object Oriented Approach and UML modeling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b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Supervisor							CSE-Students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Ms. B Malarvizhi					D V Sai kumar-192372321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Ms. B Abisha                                              G Venkatesh Reddy-192372262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Department of CSE				         Department of CSE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Saveetha School of Engineering               Saveetha School of Engineering</a:t>
            </a: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	 											</a:t>
            </a: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                                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6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z="1400" b="1" smtClean="0">
                <a:solidFill>
                  <a:schemeClr val="tx1"/>
                </a:solidFill>
              </a:rPr>
              <a:pPr>
                <a:defRPr/>
              </a:pPr>
              <a:t>1</a:t>
            </a:fld>
            <a:endParaRPr lang="en-US" altLang="zh-CN" sz="1400" b="1" dirty="0">
              <a:solidFill>
                <a:schemeClr val="tx1"/>
              </a:solidFill>
            </a:endParaRPr>
          </a:p>
        </p:txBody>
      </p:sp>
      <p:pic>
        <p:nvPicPr>
          <p:cNvPr id="1026" name="Picture 2" descr="SSE-Computer Science and Engineer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94026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par>
              <p:cTn id="2" fill="hold" nodeType="interactiveSeq">
                <p:stCondLst>
                  <p:cond delay="0"/>
                </p:stCondLst>
                <p:childTnLst>
                  <p:par>
                    <p:cTn id="3" fill="hold"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/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490" y="1219201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8305800" cy="53340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Object-Oriented Online Shopping Platform for secure, scalable e-commerce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Key Modules: Product &amp; Catalog Management, Order &amp; Payment Processing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Core Features: Product Browsing, Order Placement, Secure Payments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OOAD Concepts: Encapsulation, Inheritance, Polymorphism applied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UML Modeling: Use Case &amp; Class Diagrams for structured system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2</a:t>
            </a:fld>
            <a:endParaRPr lang="en-US" altLang="zh-CN"/>
          </a:p>
        </p:txBody>
      </p:sp>
      <p:pic>
        <p:nvPicPr>
          <p:cNvPr id="7" name="Picture 2" descr="SSE-Computer Science and Engineer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3285" y="1452895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133600"/>
            <a:ext cx="8382000" cy="5181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dirty="0"/>
              <a:t>Traditional shopping lacks convenience, speed, and accessibility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dirty="0"/>
              <a:t>Existing online systems face scalability and security challenges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dirty="0"/>
              <a:t>Manual order and inventory handling cause delays and errors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dirty="0"/>
              <a:t>Limited integration of payment and catalog management modules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dirty="0"/>
              <a:t>Need for a flexible, object-oriented system to support future expansion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3</a:t>
            </a:fld>
            <a:endParaRPr lang="en-US" altLang="zh-CN"/>
          </a:p>
        </p:txBody>
      </p:sp>
      <p:pic>
        <p:nvPicPr>
          <p:cNvPr id="7" name="Picture 2" descr="SSE-Computer Science and Engineer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4460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324" y="1112838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Literature Review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A3C6D9C-D863-0AF2-B479-9DA7D1DDD2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8105505"/>
              </p:ext>
            </p:extLst>
          </p:nvPr>
        </p:nvGraphicFramePr>
        <p:xfrm>
          <a:off x="381000" y="1752600"/>
          <a:ext cx="8382000" cy="4800599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445313037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123748765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76443536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900627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897224426"/>
                    </a:ext>
                  </a:extLst>
                </a:gridCol>
              </a:tblGrid>
              <a:tr h="2750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/>
                        <a:t>S.No</a:t>
                      </a:r>
                      <a:endParaRPr lang="en-US" sz="800"/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/>
                        <a:t>Author(s) &amp; Year</a:t>
                      </a:r>
                      <a:endParaRPr lang="en-US" sz="800"/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/>
                        <a:t>Title / Source</a:t>
                      </a:r>
                      <a:endParaRPr lang="en-US" sz="800"/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/>
                        <a:t>Key Findings</a:t>
                      </a:r>
                      <a:endParaRPr lang="en-US" sz="800"/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/>
                        <a:t>Relevance to Project</a:t>
                      </a:r>
                      <a:endParaRPr lang="en-US" sz="800"/>
                    </a:p>
                  </a:txBody>
                  <a:tcPr marL="52387" marR="52387" marT="26194" marB="26194" anchor="ctr"/>
                </a:tc>
                <a:extLst>
                  <a:ext uri="{0D108BD9-81ED-4DB2-BD59-A6C34878D82A}">
                    <a16:rowId xmlns:a16="http://schemas.microsoft.com/office/drawing/2014/main" val="2188830312"/>
                  </a:ext>
                </a:extLst>
              </a:tr>
              <a:tr h="1062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1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Brown, T. &amp; Lewis, M. (2021)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The Role of Object-Oriented Analysis and Design in Scalable E-Commerce Systems – Journal of Software Engineering Practices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Emphasized using OOAD principles (encapsulation, inheritance, polymorphism) for modular and scalable online platforms.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Forms the conceptual foundation for applying OOAD in system design.</a:t>
                      </a:r>
                    </a:p>
                  </a:txBody>
                  <a:tcPr marL="52387" marR="52387" marT="26194" marB="26194" anchor="ctr"/>
                </a:tc>
                <a:extLst>
                  <a:ext uri="{0D108BD9-81ED-4DB2-BD59-A6C34878D82A}">
                    <a16:rowId xmlns:a16="http://schemas.microsoft.com/office/drawing/2014/main" val="3574690588"/>
                  </a:ext>
                </a:extLst>
              </a:tr>
              <a:tr h="950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2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Johnson, R. &amp; Patel, S. (2020)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Implementing Object-Oriented Design for a Scalable Online Shopping System – IEEE Conference on OOAD &amp; E-Commerce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Demonstrated UML diagrams for defining user interactions and improving maintainability.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Supports use of UML Use Case and Class Diagrams in this project.</a:t>
                      </a:r>
                    </a:p>
                  </a:txBody>
                  <a:tcPr marL="52387" marR="52387" marT="26194" marB="26194" anchor="ctr"/>
                </a:tc>
                <a:extLst>
                  <a:ext uri="{0D108BD9-81ED-4DB2-BD59-A6C34878D82A}">
                    <a16:rowId xmlns:a16="http://schemas.microsoft.com/office/drawing/2014/main" val="3353846167"/>
                  </a:ext>
                </a:extLst>
              </a:tr>
              <a:tr h="8376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3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Sommerville, I. (2011)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OOAD Principles – Addison-Wesley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Provided fundamental object-oriented design principles and system modeling techniques.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Offers theoretical basis for object-oriented design structure.</a:t>
                      </a:r>
                    </a:p>
                  </a:txBody>
                  <a:tcPr marL="52387" marR="52387" marT="26194" marB="26194" anchor="ctr"/>
                </a:tc>
                <a:extLst>
                  <a:ext uri="{0D108BD9-81ED-4DB2-BD59-A6C34878D82A}">
                    <a16:rowId xmlns:a16="http://schemas.microsoft.com/office/drawing/2014/main" val="1124500094"/>
                  </a:ext>
                </a:extLst>
              </a:tr>
              <a:tr h="950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4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Kaur, N. &amp; Singh, P. (2022)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Secure Online Payment Integration in E-Commerce Systems – International Journal of Computer Applications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Discussed encryption and secure payment gateway methods.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Guides secure payment processing module implementation.</a:t>
                      </a:r>
                    </a:p>
                  </a:txBody>
                  <a:tcPr marL="52387" marR="52387" marT="26194" marB="26194" anchor="ctr"/>
                </a:tc>
                <a:extLst>
                  <a:ext uri="{0D108BD9-81ED-4DB2-BD59-A6C34878D82A}">
                    <a16:rowId xmlns:a16="http://schemas.microsoft.com/office/drawing/2014/main" val="692504592"/>
                  </a:ext>
                </a:extLst>
              </a:tr>
              <a:tr h="725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5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Wang, L. &amp; Zhao, Y. (2023)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Scalable Product Catalog Management for Online Retail – ACM Digital Library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Proposed efficient catalog management with dynamic updates and search optimization.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Helps design the Product &amp; Catalog Management Module.</a:t>
                      </a:r>
                    </a:p>
                  </a:txBody>
                  <a:tcPr marL="52387" marR="52387" marT="26194" marB="26194" anchor="ctr"/>
                </a:tc>
                <a:extLst>
                  <a:ext uri="{0D108BD9-81ED-4DB2-BD59-A6C34878D82A}">
                    <a16:rowId xmlns:a16="http://schemas.microsoft.com/office/drawing/2014/main" val="2054153251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4</a:t>
            </a:fld>
            <a:endParaRPr lang="en-US" altLang="zh-CN"/>
          </a:p>
        </p:txBody>
      </p:sp>
      <p:pic>
        <p:nvPicPr>
          <p:cNvPr id="7" name="Picture 2" descr="SSE-Computer Science and Engineer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0616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1822" y="1724427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38400"/>
            <a:ext cx="7772400" cy="2971800"/>
          </a:xfrm>
        </p:spPr>
        <p:txBody>
          <a:bodyPr>
            <a:noAutofit/>
          </a:bodyPr>
          <a:lstStyle/>
          <a:p>
            <a:pPr marL="539496" indent="-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 :- 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and Catalog Management Module. </a:t>
            </a:r>
          </a:p>
          <a:p>
            <a:pPr marL="539496" indent="-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 :- 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and Payment Processing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5</a:t>
            </a:fld>
            <a:endParaRPr lang="en-US" altLang="zh-CN"/>
          </a:p>
        </p:txBody>
      </p:sp>
      <p:pic>
        <p:nvPicPr>
          <p:cNvPr id="7" name="Picture 2" descr="SSE-Computer Science and Engineer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0006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CEF12-69BC-39D6-7631-608245B6F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153400" cy="5091112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IN" sz="22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Module 1: Product &amp; </a:t>
            </a:r>
            <a:r>
              <a:rPr lang="en-IN" sz="22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Catalog</a:t>
            </a:r>
            <a:r>
              <a:rPr lang="en-IN" sz="22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Management Module</a:t>
            </a:r>
          </a:p>
          <a:p>
            <a:pPr marL="0" indent="0" algn="just">
              <a:buNone/>
            </a:pP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Purpose:</a:t>
            </a:r>
            <a:r>
              <a:rPr lang="en-IN" sz="2200" dirty="0"/>
              <a:t> To help administrators and sellers efficiently manage product      information and categories.</a:t>
            </a:r>
          </a:p>
          <a:p>
            <a:pPr marL="0" indent="0" algn="just">
              <a:buNone/>
            </a:pPr>
            <a:r>
              <a:rPr lang="en-IN" sz="22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Main Functions:</a:t>
            </a:r>
            <a:endParaRPr lang="en-IN" sz="2200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r>
              <a:rPr lang="en-IN" sz="2200" dirty="0"/>
              <a:t>Add, edit, and delete products (CRUD operations).</a:t>
            </a:r>
          </a:p>
          <a:p>
            <a:pPr algn="just"/>
            <a:r>
              <a:rPr lang="en-IN" sz="2200" dirty="0"/>
              <a:t>Manage product categories, brands, and stock levels.</a:t>
            </a:r>
          </a:p>
          <a:p>
            <a:pPr algn="just"/>
            <a:r>
              <a:rPr lang="en-IN" sz="2200" dirty="0"/>
              <a:t>Upload and manage product images, prices, and descriptions.</a:t>
            </a:r>
          </a:p>
          <a:p>
            <a:pPr algn="just"/>
            <a:r>
              <a:rPr lang="en-IN" sz="2200" dirty="0"/>
              <a:t>Handle inventory updates automatically after purchases.</a:t>
            </a:r>
          </a:p>
          <a:p>
            <a:pPr algn="just"/>
            <a:r>
              <a:rPr lang="en-IN" sz="2200" dirty="0"/>
              <a:t>Search and filter products using keywords, price range, or category.</a:t>
            </a:r>
          </a:p>
          <a:p>
            <a:pPr algn="just"/>
            <a:r>
              <a:rPr lang="en-IN" sz="2200" dirty="0"/>
              <a:t>Maintain version control for product details (encapsulation used to secure product data).</a:t>
            </a:r>
          </a:p>
          <a:p>
            <a:pPr marL="0" indent="0" algn="just">
              <a:buNone/>
            </a:pPr>
            <a:r>
              <a:rPr lang="en-IN" sz="22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OOAD Concepts:</a:t>
            </a:r>
            <a:endParaRPr lang="en-IN" sz="220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r>
              <a:rPr lang="en-IN" sz="2200" b="1" dirty="0"/>
              <a:t>Encapsulation:</a:t>
            </a:r>
            <a:r>
              <a:rPr lang="en-IN" sz="2200" dirty="0"/>
              <a:t> Secure product data in objects.</a:t>
            </a:r>
          </a:p>
          <a:p>
            <a:pPr algn="just"/>
            <a:r>
              <a:rPr lang="en-IN" sz="2200" b="1" dirty="0"/>
              <a:t>Inheritance:</a:t>
            </a:r>
            <a:r>
              <a:rPr lang="en-IN" sz="2200" dirty="0"/>
              <a:t> Base class “Product” → subclasses like “Electronics,” “Clothing,” etc.</a:t>
            </a:r>
          </a:p>
          <a:p>
            <a:pPr algn="just"/>
            <a:r>
              <a:rPr lang="en-IN" sz="2200" b="1" dirty="0"/>
              <a:t>Polymorphism:</a:t>
            </a:r>
            <a:r>
              <a:rPr lang="en-IN" sz="2200" dirty="0"/>
              <a:t> Display and sort different product types dynamically.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FC6B7-0770-375C-EA71-E22B4C957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311796-A7F0-A19D-B166-0497EEE57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  <p:pic>
        <p:nvPicPr>
          <p:cNvPr id="9" name="Picture 2" descr="SSE-Computer Science and Engineering">
            <a:extLst>
              <a:ext uri="{FF2B5EF4-FFF2-40B4-BE49-F238E27FC236}">
                <a16:creationId xmlns:a16="http://schemas.microsoft.com/office/drawing/2014/main" id="{E43DABF3-BB59-2A90-7996-89758B194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6830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87C87-2FEF-3A7A-DD35-9385E4ABB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2286000"/>
            <a:ext cx="8153400" cy="46561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🔸 </a:t>
            </a:r>
            <a:r>
              <a:rPr lang="en-US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Case Diagram Components</a:t>
            </a:r>
            <a:endParaRPr lang="en-US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Actors:</a:t>
            </a:r>
            <a:endParaRPr lang="en-US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/>
              <a:t>Admin / Sales Representative</a:t>
            </a:r>
          </a:p>
          <a:p>
            <a:r>
              <a:rPr lang="en-US" dirty="0"/>
              <a:t>Customer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Use Cases: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Add / Edit / Delete Products</a:t>
            </a:r>
          </a:p>
          <a:p>
            <a:r>
              <a:rPr lang="en-US" dirty="0"/>
              <a:t>View Product Catalog</a:t>
            </a:r>
          </a:p>
          <a:p>
            <a:r>
              <a:rPr lang="en-US" dirty="0"/>
              <a:t>Search / Filter Products</a:t>
            </a:r>
          </a:p>
          <a:p>
            <a:r>
              <a:rPr lang="en-US" dirty="0"/>
              <a:t>Update Inventory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D5376-DBC2-2739-61A1-93CC9EBD6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42F15F-D821-B911-1C54-CEED3DA97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74CF1A-3928-D2B3-2F18-899D14F3CD38}"/>
              </a:ext>
            </a:extLst>
          </p:cNvPr>
          <p:cNvSpPr txBox="1"/>
          <p:nvPr/>
        </p:nvSpPr>
        <p:spPr>
          <a:xfrm>
            <a:off x="4419600" y="2286000"/>
            <a:ext cx="4419600" cy="3769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🔸</a:t>
            </a:r>
            <a:r>
              <a:rPr lang="en-US" sz="2100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 Diagram Components</a:t>
            </a:r>
            <a:endParaRPr lang="en-US" sz="21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1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 Classes:</a:t>
            </a:r>
            <a:endParaRPr lang="en-US" sz="2100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/>
              <a:t>Product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/>
              <a:t>Catalog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/>
              <a:t>Admin / Sales Representative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/>
              <a:t>Customer (for browsing)</a:t>
            </a:r>
          </a:p>
          <a:p>
            <a:r>
              <a:rPr lang="en-US" sz="2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Relationships:</a:t>
            </a:r>
            <a:endParaRPr lang="en-US" sz="21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/>
              <a:t>Catalog </a:t>
            </a:r>
            <a:r>
              <a:rPr lang="en-US" sz="2100" i="1" dirty="0"/>
              <a:t>contains</a:t>
            </a:r>
            <a:r>
              <a:rPr lang="en-US" sz="2100" dirty="0"/>
              <a:t> multiple Product objects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/>
              <a:t>Admin </a:t>
            </a:r>
            <a:r>
              <a:rPr lang="en-US" sz="2100" i="1" dirty="0"/>
              <a:t>manages</a:t>
            </a:r>
            <a:r>
              <a:rPr lang="en-US" sz="2100" dirty="0"/>
              <a:t> Catalog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/>
              <a:t>Customer </a:t>
            </a:r>
            <a:r>
              <a:rPr lang="en-US" sz="2100" i="1" dirty="0"/>
              <a:t>views</a:t>
            </a:r>
            <a:r>
              <a:rPr lang="en-US" sz="2100" dirty="0"/>
              <a:t> Catalog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86B7F1-5014-F681-F996-66F3E8827D01}"/>
              </a:ext>
            </a:extLst>
          </p:cNvPr>
          <p:cNvSpPr txBox="1"/>
          <p:nvPr/>
        </p:nvSpPr>
        <p:spPr>
          <a:xfrm>
            <a:off x="571500" y="1671171"/>
            <a:ext cx="800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Module 1 – Product &amp; Catalog Management</a:t>
            </a:r>
          </a:p>
        </p:txBody>
      </p:sp>
      <p:pic>
        <p:nvPicPr>
          <p:cNvPr id="9" name="Picture 2" descr="SSE-Computer Science and Engineering">
            <a:extLst>
              <a:ext uri="{FF2B5EF4-FFF2-40B4-BE49-F238E27FC236}">
                <a16:creationId xmlns:a16="http://schemas.microsoft.com/office/drawing/2014/main" id="{9A056CDE-60B5-83E6-DA59-6C286AF7C3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4522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DBD92-469E-AD43-B30C-BDBC1780C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95400"/>
            <a:ext cx="7886700" cy="60198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Module 2: Order &amp; Payment Processing Module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Purpose:</a:t>
            </a:r>
            <a:r>
              <a:rPr lang="en-IN" dirty="0"/>
              <a:t> To handle order placement, payment, and order tracking in a secure, efficient manner.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 Functions:</a:t>
            </a:r>
            <a:endParaRPr lang="en-IN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sz="1800" dirty="0"/>
              <a:t>Generate unique order IDs for each purchase.</a:t>
            </a:r>
          </a:p>
          <a:p>
            <a:r>
              <a:rPr lang="en-IN" sz="1800" dirty="0"/>
              <a:t>Update order status (Pending → Confirmed → Shipped → Delivered).</a:t>
            </a:r>
          </a:p>
          <a:p>
            <a:r>
              <a:rPr lang="en-IN" sz="1800" dirty="0"/>
              <a:t>Integrate multiple payment methods (Credit/Debit card, UPI, Wallet, etc.).</a:t>
            </a:r>
          </a:p>
          <a:p>
            <a:r>
              <a:rPr lang="en-IN" sz="1800" dirty="0"/>
              <a:t>Process refunds and cancellations automatically.</a:t>
            </a:r>
          </a:p>
          <a:p>
            <a:r>
              <a:rPr lang="en-IN" sz="1800" dirty="0"/>
              <a:t>Encrypt payment information using secure protocols.</a:t>
            </a:r>
          </a:p>
          <a:p>
            <a:r>
              <a:rPr lang="en-IN" sz="1800" dirty="0"/>
              <a:t>Allow customers to view order history and invoices.</a:t>
            </a:r>
          </a:p>
          <a:p>
            <a:r>
              <a:rPr lang="en-IN" sz="1800" dirty="0"/>
              <a:t>Notify customers via email/SMS after successful payment.</a:t>
            </a:r>
          </a:p>
          <a:p>
            <a:pPr marL="0" indent="0">
              <a:buNone/>
            </a:pPr>
            <a:r>
              <a:rPr lang="en-IN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OOAD Concepts:</a:t>
            </a:r>
            <a:endParaRPr lang="en-IN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sz="1800" b="1" dirty="0"/>
              <a:t>Polymorphism:</a:t>
            </a:r>
            <a:r>
              <a:rPr lang="en-IN" sz="1800" dirty="0"/>
              <a:t> Different payment methods via a common “Payment” interface.</a:t>
            </a:r>
          </a:p>
          <a:p>
            <a:r>
              <a:rPr lang="en-IN" sz="1800" b="1" dirty="0"/>
              <a:t>Encapsulation:</a:t>
            </a:r>
            <a:r>
              <a:rPr lang="en-IN" sz="1800" dirty="0"/>
              <a:t> Protect user and payment details.</a:t>
            </a:r>
          </a:p>
          <a:p>
            <a:r>
              <a:rPr lang="en-IN" sz="1800" b="1" dirty="0"/>
              <a:t>Abstraction:</a:t>
            </a:r>
            <a:r>
              <a:rPr lang="en-IN" sz="1800" dirty="0"/>
              <a:t> Simplify complex payment gateway operations.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92D13-F3CD-C824-E7E7-63678C74F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1D5142-EAD9-8B52-7B4E-60D1DE4E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7DD9F6F0-C5ED-3FFE-B569-382A59FB4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0639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6B753-D9B1-8F72-1631-366FA9EBC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004" y="1295400"/>
            <a:ext cx="7886700" cy="132556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Module 2 – Order &amp; Payment Processing</a:t>
            </a:r>
            <a:endParaRPr lang="en-US" sz="28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5EEB2-E78A-347B-7F26-8379452EA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286000"/>
            <a:ext cx="4505325" cy="4443291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🔸 </a:t>
            </a:r>
            <a:r>
              <a:rPr lang="en-IN" b="1" i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Case Diagram Components</a:t>
            </a:r>
            <a:endParaRPr lang="en-IN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Actors:</a:t>
            </a:r>
            <a:endParaRPr lang="en-IN" dirty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dirty="0"/>
              <a:t>Customer</a:t>
            </a:r>
          </a:p>
          <a:p>
            <a:r>
              <a:rPr lang="en-IN" dirty="0"/>
              <a:t>Sales Representative</a:t>
            </a:r>
          </a:p>
          <a:p>
            <a:r>
              <a:rPr lang="en-IN" dirty="0"/>
              <a:t>Payment Gateway</a:t>
            </a:r>
          </a:p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Cases:</a:t>
            </a:r>
            <a:endParaRPr lang="en-IN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dirty="0"/>
              <a:t>Place Order</a:t>
            </a:r>
          </a:p>
          <a:p>
            <a:r>
              <a:rPr lang="en-IN" dirty="0"/>
              <a:t>Process Payment</a:t>
            </a:r>
          </a:p>
          <a:p>
            <a:r>
              <a:rPr lang="en-IN" dirty="0"/>
              <a:t>Track Order</a:t>
            </a:r>
          </a:p>
          <a:p>
            <a:r>
              <a:rPr lang="en-IN" dirty="0"/>
              <a:t>Issue Refund / Cancellation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8961F-CA95-B9DC-8406-E592E3358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08E656-10E5-CCEF-1908-750AA7800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17A631-59EC-4A85-E97E-B6110A768850}"/>
              </a:ext>
            </a:extLst>
          </p:cNvPr>
          <p:cNvSpPr txBox="1"/>
          <p:nvPr/>
        </p:nvSpPr>
        <p:spPr>
          <a:xfrm>
            <a:off x="5029200" y="2286001"/>
            <a:ext cx="3733800" cy="4016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🔸 </a:t>
            </a:r>
            <a:r>
              <a:rPr lang="en-IN" sz="2100" b="1" i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 Diagram Components</a:t>
            </a:r>
            <a:endParaRPr lang="en-IN" sz="21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sz="21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 Classes:</a:t>
            </a:r>
            <a:endParaRPr lang="en-IN" sz="2100" dirty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Order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Payment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Customer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SalesRepresentative</a:t>
            </a:r>
          </a:p>
          <a:p>
            <a:r>
              <a:rPr lang="en-IN" sz="21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Relationships:</a:t>
            </a:r>
            <a:endParaRPr lang="en-IN" sz="21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Customer </a:t>
            </a:r>
            <a:r>
              <a:rPr lang="en-IN" sz="2100" i="1" dirty="0"/>
              <a:t>places</a:t>
            </a:r>
            <a:r>
              <a:rPr lang="en-IN" sz="2100" dirty="0"/>
              <a:t> Order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Order </a:t>
            </a:r>
            <a:r>
              <a:rPr lang="en-IN" sz="2100" i="1" dirty="0"/>
              <a:t>uses</a:t>
            </a:r>
            <a:r>
              <a:rPr lang="en-IN" sz="2100" dirty="0"/>
              <a:t> Payment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SalesRepresentative </a:t>
            </a:r>
            <a:r>
              <a:rPr lang="en-IN" sz="2100" i="1" dirty="0"/>
              <a:t>updates</a:t>
            </a:r>
            <a:r>
              <a:rPr lang="en-IN" sz="2100" dirty="0"/>
              <a:t> Order status</a:t>
            </a:r>
          </a:p>
          <a:p>
            <a:endParaRPr lang="en-US" dirty="0"/>
          </a:p>
        </p:txBody>
      </p:sp>
      <p:pic>
        <p:nvPicPr>
          <p:cNvPr id="8" name="Picture 2" descr="SSE-Computer Science and Engineering">
            <a:extLst>
              <a:ext uri="{FF2B5EF4-FFF2-40B4-BE49-F238E27FC236}">
                <a16:creationId xmlns:a16="http://schemas.microsoft.com/office/drawing/2014/main" id="{6B7474A9-E235-895B-FD21-ADD03B68E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9887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87532"/>
            <a:ext cx="7423150" cy="110963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EXISTING METHODS AND PROPOSED STRUCTURED METHODS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1169424" y="2971800"/>
            <a:ext cx="7086600" cy="5029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indent="-283464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SSE-Computer Science and Engineer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FFC273-900B-41B7-A49C-4A5A49F5A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713432"/>
              </p:ext>
            </p:extLst>
          </p:nvPr>
        </p:nvGraphicFramePr>
        <p:xfrm>
          <a:off x="381000" y="2697162"/>
          <a:ext cx="8534399" cy="3384551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3029651">
                  <a:extLst>
                    <a:ext uri="{9D8B030D-6E8A-4147-A177-3AD203B41FA5}">
                      <a16:colId xmlns:a16="http://schemas.microsoft.com/office/drawing/2014/main" val="4247176461"/>
                    </a:ext>
                  </a:extLst>
                </a:gridCol>
                <a:gridCol w="1834916">
                  <a:extLst>
                    <a:ext uri="{9D8B030D-6E8A-4147-A177-3AD203B41FA5}">
                      <a16:colId xmlns:a16="http://schemas.microsoft.com/office/drawing/2014/main" val="452048856"/>
                    </a:ext>
                  </a:extLst>
                </a:gridCol>
                <a:gridCol w="1834916">
                  <a:extLst>
                    <a:ext uri="{9D8B030D-6E8A-4147-A177-3AD203B41FA5}">
                      <a16:colId xmlns:a16="http://schemas.microsoft.com/office/drawing/2014/main" val="302365278"/>
                    </a:ext>
                  </a:extLst>
                </a:gridCol>
                <a:gridCol w="1834916">
                  <a:extLst>
                    <a:ext uri="{9D8B030D-6E8A-4147-A177-3AD203B41FA5}">
                      <a16:colId xmlns:a16="http://schemas.microsoft.com/office/drawing/2014/main" val="1605968445"/>
                    </a:ext>
                  </a:extLst>
                </a:gridCol>
              </a:tblGrid>
              <a:tr h="730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Module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Topic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Existing Method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Proposed Structured Method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198050"/>
                  </a:ext>
                </a:extLst>
              </a:tr>
              <a:tr h="1327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Module 1: Product &amp; Catalog Management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Product creation and listing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Manual product updates, limited search and filtering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Automated catalog management with search, category filter, and stock tracking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2757143"/>
                  </a:ext>
                </a:extLst>
              </a:tr>
              <a:tr h="1327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Module 2: Order &amp; Payment Processing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Order handling and payment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Separate systems for orders and payments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Integrated order and payment module with secure transaction flow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8363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1777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257301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Visual Output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1066800" y="2087563"/>
            <a:ext cx="7086600" cy="5029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296" indent="0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SSE-Computer Science and Engineer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96441A-9682-AA72-9BB9-D69FBA5F93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91" y="1997076"/>
            <a:ext cx="8293817" cy="454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799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025" y="990600"/>
            <a:ext cx="7499350" cy="1500981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550298" y="2100230"/>
            <a:ext cx="8060301" cy="59007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 Developed a scalable and efficient online shopping   platform using OOAD principles.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 Ensured secure and structured management of   products, orders, and payments.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 Designed with UML models for clear visualization of system interactions and architecture.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 Built a future-ready system capable of easy integration, maintenance, and expansion.</a:t>
            </a:r>
          </a:p>
        </p:txBody>
      </p:sp>
      <p:pic>
        <p:nvPicPr>
          <p:cNvPr id="7" name="Picture 2" descr="SSE-Computer Science and Engineer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0125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295400"/>
            <a:ext cx="7483475" cy="997744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381000" y="2057400"/>
            <a:ext cx="8382000" cy="541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Sommerville, I. (2011). Object-Oriented Analysis and Design Principles (9th ed.). Addison-Wesley.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Brown, T., &amp; Lewis, M. (2021). The Role of OOAD in Scalable E-Commerce Systems. Journal of Software Engineering Practices, 42(3), 78–92.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Johnson, R., &amp; Patel, S. (2020). Implementing Object-Oriented Design for a Scalable Online Shopping System. IEEE Conference on OOAD &amp; E-Commerce.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Kaur, N., &amp; Singh, P. (2022). Secure Online Payment Integration in E-Commerce Systems. International Journal of Computer Applications.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Wang, L., &amp; Zhao, Y. (2023). Scalable Product Catalog Management for Online Retail. ACM Digital Library.</a:t>
            </a:r>
          </a:p>
          <a:p>
            <a:pPr marL="365760" indent="-283464">
              <a:lnSpc>
                <a:spcPct val="100000"/>
              </a:lnSpc>
              <a:spcBef>
                <a:spcPts val="0"/>
              </a:spcBef>
              <a:buFont typeface="Wingdings 2"/>
              <a:buChar char=""/>
              <a:defRPr/>
            </a:pP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SSE-Computer Science and Engineer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5476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A998C-3B60-5B6E-DAF5-50A649C04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DB4084-35CB-42A3-93AB-735EB40EA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  <p:pic>
        <p:nvPicPr>
          <p:cNvPr id="6" name="Picture 2" descr="SSE-Computer Science and Engineering">
            <a:extLst>
              <a:ext uri="{FF2B5EF4-FFF2-40B4-BE49-F238E27FC236}">
                <a16:creationId xmlns:a16="http://schemas.microsoft.com/office/drawing/2014/main" id="{F6983CA6-D98F-573A-462C-D9B6B6A59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81000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88173-BB83-52B4-C6FC-37305DD6C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How To Respond to 'Thank You,' Psychologist Explains - Parade">
            <a:extLst>
              <a:ext uri="{FF2B5EF4-FFF2-40B4-BE49-F238E27FC236}">
                <a16:creationId xmlns:a16="http://schemas.microsoft.com/office/drawing/2014/main" id="{D1C0296E-03C8-0680-91AD-480FD035D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752600"/>
            <a:ext cx="8077200" cy="4561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9526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6400</TotalTime>
  <Words>1116</Words>
  <Application>Microsoft Office PowerPoint</Application>
  <PresentationFormat>On-screen Show (4:3)</PresentationFormat>
  <Paragraphs>180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宋体</vt:lpstr>
      <vt:lpstr>Arial</vt:lpstr>
      <vt:lpstr>AvantGarde</vt:lpstr>
      <vt:lpstr>Calibri</vt:lpstr>
      <vt:lpstr>Calibri Light</vt:lpstr>
      <vt:lpstr>Times</vt:lpstr>
      <vt:lpstr>Times New Roman</vt:lpstr>
      <vt:lpstr>Wingdings</vt:lpstr>
      <vt:lpstr>Wingdings 2</vt:lpstr>
      <vt:lpstr>Office Theme</vt:lpstr>
      <vt:lpstr>PowerPoint Presentation</vt:lpstr>
      <vt:lpstr>Introduction</vt:lpstr>
      <vt:lpstr>Problem Statement</vt:lpstr>
      <vt:lpstr>Literature Review</vt:lpstr>
      <vt:lpstr>Modules</vt:lpstr>
      <vt:lpstr>PowerPoint Presentation</vt:lpstr>
      <vt:lpstr>PowerPoint Presentation</vt:lpstr>
      <vt:lpstr>PowerPoint Presentation</vt:lpstr>
      <vt:lpstr>Module 2 – Order &amp; Payment Processing</vt:lpstr>
      <vt:lpstr>EXISTING METHODS AND PROPOSED STRUCTURED METHODS </vt:lpstr>
      <vt:lpstr>Visual Output</vt:lpstr>
      <vt:lpstr>CONCLUSION</vt:lpstr>
      <vt:lpstr>References</vt:lpstr>
      <vt:lpstr>PowerPoint Presentation</vt:lpstr>
    </vt:vector>
  </TitlesOfParts>
  <Company>Deitel &amp; Associates,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kalid</dc:creator>
  <cp:lastModifiedBy>d v Sai Kumar</cp:lastModifiedBy>
  <cp:revision>409</cp:revision>
  <dcterms:created xsi:type="dcterms:W3CDTF">2000-07-06T15:05:59Z</dcterms:created>
  <dcterms:modified xsi:type="dcterms:W3CDTF">2025-12-04T08:38:03Z</dcterms:modified>
</cp:coreProperties>
</file>