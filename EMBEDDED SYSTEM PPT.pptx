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20"/>
  </p:notesMasterIdLst>
  <p:sldIdLst>
    <p:sldId id="256" r:id="rId2"/>
    <p:sldId id="267" r:id="rId3"/>
    <p:sldId id="257" r:id="rId4"/>
    <p:sldId id="258" r:id="rId5"/>
    <p:sldId id="271" r:id="rId6"/>
    <p:sldId id="279" r:id="rId7"/>
    <p:sldId id="273" r:id="rId8"/>
    <p:sldId id="274" r:id="rId9"/>
    <p:sldId id="276" r:id="rId10"/>
    <p:sldId id="275" r:id="rId11"/>
    <p:sldId id="278" r:id="rId12"/>
    <p:sldId id="280" r:id="rId13"/>
    <p:sldId id="281" r:id="rId14"/>
    <p:sldId id="282" r:id="rId15"/>
    <p:sldId id="285" r:id="rId16"/>
    <p:sldId id="284" r:id="rId17"/>
    <p:sldId id="277" r:id="rId18"/>
    <p:sldId id="27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 v Sai Kumar" userId="4605bc5144c9657b" providerId="LiveId" clId="{28EA5568-B730-43A7-9F28-63BAF175C151}"/>
    <pc:docChg chg="undo custSel modSld">
      <pc:chgData name="d v Sai Kumar" userId="4605bc5144c9657b" providerId="LiveId" clId="{28EA5568-B730-43A7-9F28-63BAF175C151}" dt="2025-09-10T06:51:47.141" v="291" actId="14100"/>
      <pc:docMkLst>
        <pc:docMk/>
      </pc:docMkLst>
      <pc:sldChg chg="modSp mod">
        <pc:chgData name="d v Sai Kumar" userId="4605bc5144c9657b" providerId="LiveId" clId="{28EA5568-B730-43A7-9F28-63BAF175C151}" dt="2025-09-10T06:51:47.141" v="291" actId="14100"/>
        <pc:sldMkLst>
          <pc:docMk/>
          <pc:sldMk cId="105901950" sldId="256"/>
        </pc:sldMkLst>
        <pc:spChg chg="mod">
          <ac:chgData name="d v Sai Kumar" userId="4605bc5144c9657b" providerId="LiveId" clId="{28EA5568-B730-43A7-9F28-63BAF175C151}" dt="2025-09-10T06:47:04.448" v="82" actId="20577"/>
          <ac:spMkLst>
            <pc:docMk/>
            <pc:sldMk cId="105901950" sldId="256"/>
            <ac:spMk id="5" creationId="{9144837D-DAA0-F8F6-E694-1F4A5E7374CC}"/>
          </ac:spMkLst>
        </pc:spChg>
        <pc:spChg chg="mod">
          <ac:chgData name="d v Sai Kumar" userId="4605bc5144c9657b" providerId="LiveId" clId="{28EA5568-B730-43A7-9F28-63BAF175C151}" dt="2025-09-10T06:51:47.141" v="291" actId="14100"/>
          <ac:spMkLst>
            <pc:docMk/>
            <pc:sldMk cId="105901950" sldId="256"/>
            <ac:spMk id="9" creationId="{769055A1-EB03-293A-591D-D475996C4B3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49658E-B08F-4760-BDCF-96B0F49C5A74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C5BFF3-A89C-45D2-AB18-118557C30E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169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5BFF3-A89C-45D2-AB18-118557C30E9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005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5BFF3-A89C-45D2-AB18-118557C30E9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769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90C00-A387-99C0-23CE-463F767D2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033C0-1224-E7CB-F079-11A95A4BC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828AB-A8E2-E890-F1EB-2E8136584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69881-C21E-583B-DD72-22B5B42713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5BFF3-A89C-45D2-AB18-118557C30E9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736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660C7-3AFF-8BBC-2B74-06A7A68E9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43974-1547-F883-C57C-15C76378A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D8860C-B9CA-D47E-50DE-0FD2D4E64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AC453-21C7-E014-22F1-F6C7536A7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5BFF3-A89C-45D2-AB18-118557C30E9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660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A42AA-53B5-409A-5170-A997EA9DD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35F710-E31A-1B79-3E3D-339A6E493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F3571-89B4-148A-56BE-B43372AA3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23E52-DAAB-C49C-4F34-48ACBF539C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5BFF3-A89C-45D2-AB18-118557C30E9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558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4F45E-45E1-B931-E41C-024C270C3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C11F1D-8354-0F1B-544C-0ABFF62EE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02ECF3-02DF-788E-ACD6-9AC052F19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07AE-2205-7BD8-D53D-F7336D61A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5BFF3-A89C-45D2-AB18-118557C30E9B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690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9/10/2025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AC7D7-3AC8-6A76-40E7-31D895A30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723" y="1323747"/>
            <a:ext cx="10300281" cy="3035808"/>
          </a:xfrm>
        </p:spPr>
        <p:txBody>
          <a:bodyPr/>
          <a:lstStyle/>
          <a:p>
            <a:pPr algn="ctr"/>
            <a:r>
              <a:rPr lang="en-US" sz="4400" dirty="0"/>
              <a:t>Smart Agricultural Monitoring System for Optimized Crop Growth Using Soil Moisture Sensor and IoT Integration</a:t>
            </a:r>
            <a:endParaRPr lang="en-IN" sz="44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144837D-DAA0-F8F6-E694-1F4A5E737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6468" y="5381712"/>
            <a:ext cx="5345532" cy="1069975"/>
          </a:xfrm>
        </p:spPr>
        <p:txBody>
          <a:bodyPr>
            <a:normAutofit fontScale="62500" lnSpcReduction="20000"/>
          </a:bodyPr>
          <a:lstStyle/>
          <a:p>
            <a:r>
              <a:rPr lang="en-IN" sz="2500" b="1" i="1" dirty="0"/>
              <a:t>Presented By:   </a:t>
            </a:r>
            <a:r>
              <a:rPr lang="en-IN" sz="2500" b="1" i="1" dirty="0" err="1"/>
              <a:t>U.Maheshware</a:t>
            </a:r>
            <a:r>
              <a:rPr lang="en-IN" sz="2500" b="1" i="1" dirty="0"/>
              <a:t> Reddy(192210540)</a:t>
            </a:r>
          </a:p>
          <a:p>
            <a:r>
              <a:rPr lang="en-IN" sz="2500" b="1" i="1" dirty="0"/>
              <a:t>	              D V Sai </a:t>
            </a:r>
            <a:r>
              <a:rPr lang="en-IN" sz="2500" b="1" i="1" dirty="0" err="1"/>
              <a:t>kumar</a:t>
            </a:r>
            <a:r>
              <a:rPr lang="en-IN" sz="2500" b="1" i="1" dirty="0"/>
              <a:t>(192372321)</a:t>
            </a:r>
          </a:p>
          <a:p>
            <a:r>
              <a:rPr lang="en-IN" sz="2500" b="1" i="1" dirty="0"/>
              <a:t>	</a:t>
            </a:r>
          </a:p>
        </p:txBody>
      </p:sp>
      <p:pic>
        <p:nvPicPr>
          <p:cNvPr id="8" name="image4.png">
            <a:extLst>
              <a:ext uri="{FF2B5EF4-FFF2-40B4-BE49-F238E27FC236}">
                <a16:creationId xmlns:a16="http://schemas.microsoft.com/office/drawing/2014/main" id="{8E7CE558-D627-1638-5E8F-94572736400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053087" y="267478"/>
            <a:ext cx="8390626" cy="934470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769055A1-EB03-293A-591D-D475996C4B37}"/>
              </a:ext>
            </a:extLst>
          </p:cNvPr>
          <p:cNvSpPr txBox="1">
            <a:spLocks/>
          </p:cNvSpPr>
          <p:nvPr/>
        </p:nvSpPr>
        <p:spPr>
          <a:xfrm>
            <a:off x="829126" y="5381712"/>
            <a:ext cx="5345532" cy="1476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ECA1402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 for Edge AI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Dr C Senthil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b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019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2EADFE3-8FAF-A110-CD33-1E41F8C67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548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478521E-ED6A-E4D6-AA50-1F31C0E9F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436" y="921101"/>
            <a:ext cx="10058400" cy="1609725"/>
          </a:xfrm>
        </p:spPr>
        <p:txBody>
          <a:bodyPr>
            <a:normAutofit/>
          </a:bodyPr>
          <a:lstStyle/>
          <a:p>
            <a:r>
              <a:rPr lang="en-US" sz="4000" b="1" dirty="0"/>
              <a:t>Introduction:</a:t>
            </a:r>
            <a:br>
              <a:rPr lang="en-US" sz="4000" dirty="0"/>
            </a:br>
            <a:endParaRPr lang="en-IN" sz="4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F01899E-6E72-5ADA-F0E9-307B2FB5D2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452" y="2056043"/>
            <a:ext cx="6589140" cy="4167707"/>
          </a:xfrm>
        </p:spPr>
        <p:txBody>
          <a:bodyPr>
            <a:noAutofit/>
          </a:bodyPr>
          <a:lstStyle/>
          <a:p>
            <a:pPr lvl="1" algn="just"/>
            <a:r>
              <a:rPr lang="en-US" sz="2300" dirty="0"/>
              <a:t>Agriculture is the backbone of our society, providing food and sustenance for billions of people around the world. </a:t>
            </a:r>
          </a:p>
          <a:p>
            <a:pPr lvl="1" algn="just"/>
            <a:r>
              <a:rPr lang="en-US" sz="2300" dirty="0"/>
              <a:t>However, traditional farming methods often rely on manual monitoring and decision-making, which can lead to reduced crop yields, inefficient resource usage, and decreased profitability.</a:t>
            </a:r>
            <a:endParaRPr lang="en-IN" sz="23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F13890-E5A4-42EC-741B-3676F227C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576" y="1875018"/>
            <a:ext cx="4213185" cy="37643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2" descr="95,800+ Agriculture Logo Stock Illustrations, Royalty-Free Vector Graphics  &amp; Clip Art - iStock | Agriculture logo vector, Agriculture logo badge,  Agriculture logo design">
            <a:extLst>
              <a:ext uri="{FF2B5EF4-FFF2-40B4-BE49-F238E27FC236}">
                <a16:creationId xmlns:a16="http://schemas.microsoft.com/office/drawing/2014/main" id="{1AB745A6-0ABC-B630-BB98-BA43A6B382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" t="2582" r="1485" b="73125"/>
          <a:stretch/>
        </p:blipFill>
        <p:spPr bwMode="auto">
          <a:xfrm>
            <a:off x="199991" y="5012300"/>
            <a:ext cx="5694743" cy="125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351B35-BF22-0227-D89E-24047BE1B92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7748" b="51595"/>
          <a:stretch/>
        </p:blipFill>
        <p:spPr>
          <a:xfrm>
            <a:off x="5894734" y="282115"/>
            <a:ext cx="5829300" cy="106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748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440824-EBA6-28A8-8B19-E9DCC3ED9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179"/>
            <a:ext cx="11191164" cy="675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078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98B25-89CB-DCDA-9611-599BE575E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16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4000" b="1" dirty="0"/>
              <a:t>Solution: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31579-71D5-293F-E041-AD9775BE0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998" y="1476059"/>
            <a:ext cx="11616004" cy="3314348"/>
          </a:xfrm>
        </p:spPr>
        <p:txBody>
          <a:bodyPr>
            <a:normAutofit/>
          </a:bodyPr>
          <a:lstStyle/>
          <a:p>
            <a:r>
              <a:rPr lang="en-US" sz="2500" b="1" dirty="0"/>
              <a:t>Smart Agriculture Monitoring System: </a:t>
            </a:r>
          </a:p>
          <a:p>
            <a:pPr marL="0" indent="0">
              <a:buNone/>
            </a:pPr>
            <a:r>
              <a:rPr lang="en-US" sz="2500" dirty="0"/>
              <a:t>                    In this presentation, we will introduce an innovative solution that leverages Internet of Things (IoT) technology and data analytics to optimize agricultural practices. </a:t>
            </a:r>
          </a:p>
          <a:p>
            <a:r>
              <a:rPr lang="en-US" sz="2500" dirty="0"/>
              <a:t>Our Smart Agriculture Monitoring System enables farmers to remotely monitor soil moisture, temperature, and humidity levels, receive automated readings, and make data-driven decisions to enhance crop yields and resource efficiency.</a:t>
            </a:r>
            <a:endParaRPr lang="en-IN" sz="2500" dirty="0"/>
          </a:p>
        </p:txBody>
      </p:sp>
      <p:pic>
        <p:nvPicPr>
          <p:cNvPr id="1026" name="Picture 2" descr="95,800+ Agriculture Logo Stock Illustrations, Royalty-Free Vector Graphics  &amp; Clip Art - iStock | Agriculture logo vector, Agriculture logo badge,  Agriculture logo design">
            <a:extLst>
              <a:ext uri="{FF2B5EF4-FFF2-40B4-BE49-F238E27FC236}">
                <a16:creationId xmlns:a16="http://schemas.microsoft.com/office/drawing/2014/main" id="{80A3E2AA-B509-D5BF-D9EE-0B722220AD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" t="2582" r="1485" b="73125"/>
          <a:stretch/>
        </p:blipFill>
        <p:spPr bwMode="auto">
          <a:xfrm>
            <a:off x="199991" y="5012300"/>
            <a:ext cx="5694743" cy="125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50DAE4-5702-04DB-94B2-60A55BAD5A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748" b="51595"/>
          <a:stretch/>
        </p:blipFill>
        <p:spPr>
          <a:xfrm>
            <a:off x="5894734" y="5012300"/>
            <a:ext cx="5829300" cy="106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669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F2350-78CF-A8F2-52C6-5FCD8CFCA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529" y="484632"/>
            <a:ext cx="10058400" cy="1609344"/>
          </a:xfrm>
        </p:spPr>
        <p:txBody>
          <a:bodyPr/>
          <a:lstStyle/>
          <a:p>
            <a:r>
              <a:rPr lang="en-IN" dirty="0"/>
              <a:t>Objectives: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C49044C-A022-7EF8-656C-D8C3C91A3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5699" y="2093976"/>
            <a:ext cx="8982174" cy="717463"/>
          </a:xfrm>
        </p:spPr>
        <p:txBody>
          <a:bodyPr>
            <a:noAutofit/>
          </a:bodyPr>
          <a:lstStyle/>
          <a:p>
            <a:r>
              <a:rPr lang="en-IN" sz="4000" b="1" dirty="0">
                <a:solidFill>
                  <a:srgbClr val="131313"/>
                </a:solidFill>
              </a:rPr>
              <a:t> Soil Moisture</a:t>
            </a:r>
            <a:br>
              <a:rPr lang="en-IN" sz="4000" b="1" dirty="0"/>
            </a:br>
            <a:endParaRPr lang="en-US" sz="40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E2E81CA-4EE7-B27B-76F1-212B2866FA84}"/>
              </a:ext>
            </a:extLst>
          </p:cNvPr>
          <p:cNvSpPr txBox="1">
            <a:spLocks/>
          </p:cNvSpPr>
          <p:nvPr/>
        </p:nvSpPr>
        <p:spPr>
          <a:xfrm>
            <a:off x="4548279" y="3114053"/>
            <a:ext cx="8982174" cy="7174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b="1" dirty="0">
                <a:solidFill>
                  <a:srgbClr val="131313"/>
                </a:solidFill>
              </a:rPr>
              <a:t> Humidity</a:t>
            </a:r>
            <a:br>
              <a:rPr lang="en-IN" sz="4000" b="1" dirty="0"/>
            </a:br>
            <a:endParaRPr lang="en-US" sz="4000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0D6933-0E51-C382-769F-EE189C38B800}"/>
              </a:ext>
            </a:extLst>
          </p:cNvPr>
          <p:cNvSpPr txBox="1">
            <a:spLocks/>
          </p:cNvSpPr>
          <p:nvPr/>
        </p:nvSpPr>
        <p:spPr>
          <a:xfrm>
            <a:off x="6096000" y="4289022"/>
            <a:ext cx="8982174" cy="7174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b="1" dirty="0">
                <a:solidFill>
                  <a:srgbClr val="131313"/>
                </a:solidFill>
              </a:rPr>
              <a:t> Temperature</a:t>
            </a:r>
            <a:br>
              <a:rPr lang="en-IN" sz="4000" b="1" dirty="0"/>
            </a:br>
            <a:endParaRPr lang="en-US" sz="4000" b="1" dirty="0"/>
          </a:p>
        </p:txBody>
      </p:sp>
      <p:pic>
        <p:nvPicPr>
          <p:cNvPr id="8" name="Picture 2" descr="95,800+ Agriculture Logo Stock Illustrations, Royalty-Free Vector Graphics  &amp; Clip Art - iStock | Agriculture logo vector, Agriculture logo badge,  Agriculture logo design">
            <a:extLst>
              <a:ext uri="{FF2B5EF4-FFF2-40B4-BE49-F238E27FC236}">
                <a16:creationId xmlns:a16="http://schemas.microsoft.com/office/drawing/2014/main" id="{441C47ED-8EF2-1320-97F2-CD7CC8BB7B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" t="2582" r="1485" b="73125"/>
          <a:stretch/>
        </p:blipFill>
        <p:spPr bwMode="auto">
          <a:xfrm>
            <a:off x="6274082" y="344558"/>
            <a:ext cx="5694743" cy="1160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87B496-4807-F18C-2FC2-48D90BC05F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748" b="51595"/>
          <a:stretch/>
        </p:blipFill>
        <p:spPr>
          <a:xfrm>
            <a:off x="266700" y="5463991"/>
            <a:ext cx="5829300" cy="106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287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78693-071E-0A20-6B1B-B3988F702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F1BFF-AA1A-9E2C-868B-34E17CF56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9672" y="40832"/>
            <a:ext cx="10058400" cy="1609344"/>
          </a:xfrm>
        </p:spPr>
        <p:txBody>
          <a:bodyPr>
            <a:normAutofit/>
          </a:bodyPr>
          <a:lstStyle/>
          <a:p>
            <a:r>
              <a:rPr lang="en-US" sz="4000" b="1" dirty="0"/>
              <a:t>SYSTEM COMPONENTS :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B113C-584B-4C86-7035-514177BA9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816" y="1456769"/>
            <a:ext cx="5290999" cy="636731"/>
          </a:xfrm>
        </p:spPr>
        <p:txBody>
          <a:bodyPr>
            <a:normAutofit/>
          </a:bodyPr>
          <a:lstStyle/>
          <a:p>
            <a:r>
              <a:rPr lang="en-US" sz="2500" b="1" dirty="0"/>
              <a:t>HARDWARE REQUIREMENTS:</a:t>
            </a:r>
            <a:endParaRPr lang="en-US" sz="2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FBF63E-5462-D713-362F-534D1ADBC98D}"/>
              </a:ext>
            </a:extLst>
          </p:cNvPr>
          <p:cNvSpPr txBox="1"/>
          <p:nvPr/>
        </p:nvSpPr>
        <p:spPr>
          <a:xfrm>
            <a:off x="796163" y="2150757"/>
            <a:ext cx="390051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ESP8266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Soil Moisture Sensor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DHT11 Sensor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Connecting Cable</a:t>
            </a:r>
            <a:endParaRPr lang="en-IN" sz="22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3A421DA-523E-92B8-2147-C20C7C8ACDC9}"/>
              </a:ext>
            </a:extLst>
          </p:cNvPr>
          <p:cNvSpPr txBox="1">
            <a:spLocks/>
          </p:cNvSpPr>
          <p:nvPr/>
        </p:nvSpPr>
        <p:spPr>
          <a:xfrm>
            <a:off x="334172" y="4023967"/>
            <a:ext cx="5290999" cy="636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b="1" dirty="0"/>
              <a:t>SOFTWARE REQUIREMENTS:</a:t>
            </a:r>
            <a:endParaRPr lang="en-US" sz="2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02C696-9171-3AFC-5B23-B6DF8E976589}"/>
              </a:ext>
            </a:extLst>
          </p:cNvPr>
          <p:cNvSpPr txBox="1"/>
          <p:nvPr/>
        </p:nvSpPr>
        <p:spPr>
          <a:xfrm>
            <a:off x="796163" y="4684811"/>
            <a:ext cx="390051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Arduino IDE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Programming Language – C++ Language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BLYNK App</a:t>
            </a:r>
          </a:p>
        </p:txBody>
      </p:sp>
      <p:pic>
        <p:nvPicPr>
          <p:cNvPr id="4" name="Picture 3" descr="DIY IOT BASED SMART AGRICULTURE MONITORING PROJECT KIT | HOBBY PROJECT KIT  | DIY PROJECT KIT | ELECTRONICS PROJECT KIT : Amazon.in: Industrial &amp;  Scientific">
            <a:extLst>
              <a:ext uri="{FF2B5EF4-FFF2-40B4-BE49-F238E27FC236}">
                <a16:creationId xmlns:a16="http://schemas.microsoft.com/office/drawing/2014/main" id="{2EA54D67-95CD-8B9F-4047-DBBCCBF06B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864"/>
          <a:stretch/>
        </p:blipFill>
        <p:spPr bwMode="auto">
          <a:xfrm>
            <a:off x="5868365" y="1817225"/>
            <a:ext cx="5775766" cy="381964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4166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A0055-9466-BC2F-7C9D-3810942FB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C6FB1-E324-7CD9-F47C-2FE07C2AA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963" y="1287242"/>
            <a:ext cx="6379353" cy="4886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i="0" dirty="0">
                <a:solidFill>
                  <a:srgbClr val="131313"/>
                </a:solidFill>
                <a:effectLst/>
              </a:rPr>
              <a:t>ESP8266: </a:t>
            </a:r>
          </a:p>
          <a:p>
            <a:r>
              <a:rPr lang="en-US" sz="2400" b="0" i="0" dirty="0">
                <a:solidFill>
                  <a:srgbClr val="131313"/>
                </a:solidFill>
                <a:effectLst/>
              </a:rPr>
              <a:t>The ESP8266 is a low-cost, Wi-Fi-enabled microcontroller that can be used to connect sensors and devices to the internet.</a:t>
            </a:r>
          </a:p>
          <a:p>
            <a:r>
              <a:rPr lang="en-US" sz="2400" b="0" i="0" dirty="0">
                <a:solidFill>
                  <a:srgbClr val="131313"/>
                </a:solidFill>
                <a:effectLst/>
              </a:rPr>
              <a:t>In this project, the ESP8266 is used to read data from the soil moisture sensor and DHT11 sensor, and send it to a server or cloud platform for monitoring and analysis.</a:t>
            </a:r>
            <a:br>
              <a:rPr lang="en-IN" sz="2400" dirty="0"/>
            </a:br>
            <a:endParaRPr lang="en-US" sz="2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EC7132-4B28-D0C7-F298-9E5F8C447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697" y="1287243"/>
            <a:ext cx="4095100" cy="42835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C6147F-5588-8A65-2DEC-6F8E0E41E7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748" b="51595"/>
          <a:stretch/>
        </p:blipFill>
        <p:spPr>
          <a:xfrm>
            <a:off x="266700" y="5463991"/>
            <a:ext cx="5829300" cy="1066383"/>
          </a:xfrm>
          <a:prstGeom prst="rect">
            <a:avLst/>
          </a:prstGeom>
        </p:spPr>
      </p:pic>
      <p:pic>
        <p:nvPicPr>
          <p:cNvPr id="5" name="Picture 2" descr="95,800+ Agriculture Logo Stock Illustrations, Royalty-Free Vector Graphics  &amp; Clip Art - iStock | Agriculture logo vector, Agriculture logo badge,  Agriculture logo design">
            <a:extLst>
              <a:ext uri="{FF2B5EF4-FFF2-40B4-BE49-F238E27FC236}">
                <a16:creationId xmlns:a16="http://schemas.microsoft.com/office/drawing/2014/main" id="{2865782F-468D-AF6B-3EA0-428B2701C7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" t="2582" r="1485" b="73125"/>
          <a:stretch/>
        </p:blipFill>
        <p:spPr bwMode="auto">
          <a:xfrm>
            <a:off x="6274082" y="344558"/>
            <a:ext cx="5694743" cy="1160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6786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06944-9E65-B573-5CD7-26C5ACCCA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C3B29-454C-0D70-06B7-38CE29831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060" y="1400536"/>
            <a:ext cx="6298067" cy="53018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b="1" dirty="0">
                <a:solidFill>
                  <a:srgbClr val="131313"/>
                </a:solidFill>
              </a:rPr>
              <a:t>Soil Moisture Sensor:</a:t>
            </a:r>
            <a:endParaRPr lang="en-IN" sz="2600" b="1" i="0" dirty="0">
              <a:solidFill>
                <a:srgbClr val="131313"/>
              </a:solidFill>
              <a:effectLst/>
            </a:endParaRPr>
          </a:p>
          <a:p>
            <a:r>
              <a:rPr lang="en-US" sz="2400" b="0" i="0" dirty="0">
                <a:solidFill>
                  <a:srgbClr val="131313"/>
                </a:solidFill>
                <a:effectLst/>
              </a:rPr>
              <a:t>The soil moisture sensor is used to measure the moisture levels in the soil.</a:t>
            </a:r>
          </a:p>
          <a:p>
            <a:r>
              <a:rPr lang="en-US" sz="2400" b="0" i="0" dirty="0">
                <a:solidFill>
                  <a:srgbClr val="131313"/>
                </a:solidFill>
                <a:effectLst/>
              </a:rPr>
              <a:t>It consists of two probes that are inserted into the soil, and a sensor board that reads the electrical conductivity of the soil.</a:t>
            </a:r>
          </a:p>
          <a:p>
            <a:r>
              <a:rPr lang="en-US" sz="2400" b="0" i="0" dirty="0">
                <a:solidFill>
                  <a:srgbClr val="131313"/>
                </a:solidFill>
                <a:effectLst/>
              </a:rPr>
              <a:t>The sensor board sends an analog signal to the ESP8266, which converts it to a digital value.</a:t>
            </a:r>
            <a:br>
              <a:rPr lang="en-IN" sz="2400" dirty="0"/>
            </a:br>
            <a:endParaRPr lang="en-US" sz="25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3EFB85-1B09-B28F-A4B4-84D8D760C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209" y="1191087"/>
            <a:ext cx="4837813" cy="4162204"/>
          </a:xfrm>
          <a:prstGeom prst="rect">
            <a:avLst/>
          </a:prstGeom>
        </p:spPr>
      </p:pic>
      <p:pic>
        <p:nvPicPr>
          <p:cNvPr id="4" name="Picture 2" descr="95,800+ Agriculture Logo Stock Illustrations, Royalty-Free Vector Graphics  &amp; Clip Art - iStock | Agriculture logo vector, Agriculture logo badge,  Agriculture logo design">
            <a:extLst>
              <a:ext uri="{FF2B5EF4-FFF2-40B4-BE49-F238E27FC236}">
                <a16:creationId xmlns:a16="http://schemas.microsoft.com/office/drawing/2014/main" id="{1F752236-3511-9C58-CBB4-E71EADAFE7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" t="2582" r="1485" b="73125"/>
          <a:stretch/>
        </p:blipFill>
        <p:spPr bwMode="auto">
          <a:xfrm>
            <a:off x="6274082" y="344558"/>
            <a:ext cx="5694743" cy="1160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90E8BB-D11A-8C29-8017-12F204E66F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7748" b="51595"/>
          <a:stretch/>
        </p:blipFill>
        <p:spPr>
          <a:xfrm>
            <a:off x="266700" y="5463991"/>
            <a:ext cx="5829300" cy="106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516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B28F30-0947-A752-CA09-61EFFE623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014" y="868812"/>
            <a:ext cx="6379353" cy="4886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i="0" dirty="0">
                <a:solidFill>
                  <a:srgbClr val="131313"/>
                </a:solidFill>
                <a:effectLst/>
              </a:rPr>
              <a:t>DHT11 Sensor :</a:t>
            </a:r>
          </a:p>
          <a:p>
            <a:r>
              <a:rPr lang="en-US" sz="2400" i="0" dirty="0">
                <a:solidFill>
                  <a:srgbClr val="131313"/>
                </a:solidFill>
                <a:effectLst/>
              </a:rPr>
              <a:t>The DHT11 sensor is used to measure the temperature and humidity in the air.</a:t>
            </a:r>
          </a:p>
          <a:p>
            <a:r>
              <a:rPr lang="en-US" sz="2400" i="0" dirty="0">
                <a:solidFill>
                  <a:srgbClr val="131313"/>
                </a:solidFill>
                <a:effectLst/>
              </a:rPr>
              <a:t>It consists of a temperature sensor and a humidity sensor, and sends digital signals to the ESP8266.</a:t>
            </a:r>
          </a:p>
          <a:p>
            <a:r>
              <a:rPr lang="en-US" sz="2400" i="0" dirty="0">
                <a:solidFill>
                  <a:srgbClr val="131313"/>
                </a:solidFill>
                <a:effectLst/>
              </a:rPr>
              <a:t>The DHT11 sensor is connected to the ESP8266 as follows: 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131313"/>
                </a:solidFill>
              </a:rPr>
              <a:t>             -</a:t>
            </a:r>
            <a:r>
              <a:rPr lang="en-US" sz="2400" i="0" dirty="0">
                <a:solidFill>
                  <a:srgbClr val="131313"/>
                </a:solidFill>
                <a:effectLst/>
              </a:rPr>
              <a:t> VCC to 3.3V    </a:t>
            </a:r>
          </a:p>
          <a:p>
            <a:pPr marL="0" indent="0">
              <a:buNone/>
            </a:pPr>
            <a:r>
              <a:rPr lang="en-US" sz="2400" i="0" dirty="0">
                <a:solidFill>
                  <a:srgbClr val="131313"/>
                </a:solidFill>
                <a:effectLst/>
              </a:rPr>
              <a:t>             - GND to GND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131313"/>
                </a:solidFill>
              </a:rPr>
              <a:t>             -</a:t>
            </a:r>
            <a:r>
              <a:rPr lang="en-US" sz="2400" i="0" dirty="0">
                <a:solidFill>
                  <a:srgbClr val="131313"/>
                </a:solidFill>
                <a:effectLst/>
              </a:rPr>
              <a:t> OUT to any digital pin (e.g., D1)</a:t>
            </a:r>
            <a:endParaRPr lang="en-US" sz="25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1E3B1C-0F74-9705-F457-B75DDF420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146" y="1619781"/>
            <a:ext cx="4665840" cy="38098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99D25E2-255A-F33C-CF39-9540E0F1DE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748" b="51595"/>
          <a:stretch/>
        </p:blipFill>
        <p:spPr>
          <a:xfrm>
            <a:off x="266700" y="5463991"/>
            <a:ext cx="5829300" cy="1066383"/>
          </a:xfrm>
          <a:prstGeom prst="rect">
            <a:avLst/>
          </a:prstGeom>
        </p:spPr>
      </p:pic>
      <p:pic>
        <p:nvPicPr>
          <p:cNvPr id="3" name="Picture 2" descr="95,800+ Agriculture Logo Stock Illustrations, Royalty-Free Vector Graphics  &amp; Clip Art - iStock | Agriculture logo vector, Agriculture logo badge,  Agriculture logo design">
            <a:extLst>
              <a:ext uri="{FF2B5EF4-FFF2-40B4-BE49-F238E27FC236}">
                <a16:creationId xmlns:a16="http://schemas.microsoft.com/office/drawing/2014/main" id="{C4EBD96B-0F04-2B5A-8183-CA561B28CA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" t="2582" r="1485" b="73125"/>
          <a:stretch/>
        </p:blipFill>
        <p:spPr bwMode="auto">
          <a:xfrm>
            <a:off x="6274082" y="344558"/>
            <a:ext cx="5694743" cy="1160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0732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CE6B8-030C-49A8-CFFB-67A153CD0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C49E2-D8FC-F773-F712-4F74B363B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348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4000" b="1" dirty="0"/>
              <a:t>CIRCUIT DIAGRAM:</a:t>
            </a:r>
            <a:endParaRPr lang="en-IN" sz="40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D18B2A-EB83-1626-55D2-283137155F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16" t="1530" r="7686"/>
          <a:stretch/>
        </p:blipFill>
        <p:spPr>
          <a:xfrm>
            <a:off x="2552131" y="1363684"/>
            <a:ext cx="6864824" cy="44639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3898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AF80C-2FA2-3F14-C624-B4D286CCD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4F43A-DC12-EEDF-9AFC-16A6AB59C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1" y="286302"/>
            <a:ext cx="10058400" cy="1609344"/>
          </a:xfrm>
        </p:spPr>
        <p:txBody>
          <a:bodyPr>
            <a:normAutofit/>
          </a:bodyPr>
          <a:lstStyle/>
          <a:p>
            <a:r>
              <a:rPr lang="en-US" sz="4000" b="1" dirty="0"/>
              <a:t>BLYNK APP:</a:t>
            </a:r>
            <a:endParaRPr lang="en-IN" sz="4000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FC4D384-B213-8E53-51DC-F99247E52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806" y="1728994"/>
            <a:ext cx="6225979" cy="3233361"/>
          </a:xfrm>
        </p:spPr>
        <p:txBody>
          <a:bodyPr>
            <a:normAutofit/>
          </a:bodyPr>
          <a:lstStyle/>
          <a:p>
            <a:r>
              <a:rPr lang="en-US" sz="2500" dirty="0"/>
              <a:t> Login to blynk.cloud website and create  new template for Soil Monitoring System.</a:t>
            </a:r>
          </a:p>
          <a:p>
            <a:r>
              <a:rPr lang="en-US" sz="2500" dirty="0"/>
              <a:t> Create a web dashboard for soil moisture, humidity and temperature using widgets.</a:t>
            </a:r>
          </a:p>
          <a:p>
            <a:r>
              <a:rPr lang="en-US" sz="2500" dirty="0"/>
              <a:t> We will get template Id, template name, authentication token.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A8F0FA-61B7-82F1-DDB4-6118B07033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0785" y="1666771"/>
            <a:ext cx="5410117" cy="37972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0B6E6B-63A8-77C4-765E-2D1269079E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748" b="51595"/>
          <a:stretch/>
        </p:blipFill>
        <p:spPr>
          <a:xfrm>
            <a:off x="266700" y="5463991"/>
            <a:ext cx="5829300" cy="1066383"/>
          </a:xfrm>
          <a:prstGeom prst="rect">
            <a:avLst/>
          </a:prstGeom>
        </p:spPr>
      </p:pic>
      <p:pic>
        <p:nvPicPr>
          <p:cNvPr id="7" name="Picture 6" descr="95,800+ Agriculture Logo Stock Illustrations, Royalty-Free Vector Graphics  &amp; Clip Art - iStock | Agriculture logo vector, Agriculture logo badge,  Agriculture logo design">
            <a:extLst>
              <a:ext uri="{FF2B5EF4-FFF2-40B4-BE49-F238E27FC236}">
                <a16:creationId xmlns:a16="http://schemas.microsoft.com/office/drawing/2014/main" id="{EE5835FA-8C70-0A7E-99B4-F886382272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" t="2582" r="1485" b="73125"/>
          <a:stretch/>
        </p:blipFill>
        <p:spPr bwMode="auto">
          <a:xfrm>
            <a:off x="6146159" y="286302"/>
            <a:ext cx="5694743" cy="1160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2518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08FA6A2-BB5B-0DBF-B867-2ACDA2BA2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319" y="250371"/>
            <a:ext cx="10058400" cy="1609344"/>
          </a:xfrm>
        </p:spPr>
        <p:txBody>
          <a:bodyPr>
            <a:normAutofit/>
          </a:bodyPr>
          <a:lstStyle/>
          <a:p>
            <a:r>
              <a:rPr lang="en-US" sz="4000" b="1" dirty="0"/>
              <a:t>Arduino:</a:t>
            </a:r>
            <a:endParaRPr lang="en-IN" sz="40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0790AE-AB08-21B4-F532-51BB7E26E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599" y="1572068"/>
            <a:ext cx="6187133" cy="3713863"/>
          </a:xfrm>
        </p:spPr>
        <p:txBody>
          <a:bodyPr>
            <a:normAutofit/>
          </a:bodyPr>
          <a:lstStyle/>
          <a:p>
            <a:r>
              <a:rPr lang="en-US" sz="2500" dirty="0"/>
              <a:t>Paste the details in our Arduino program.</a:t>
            </a:r>
          </a:p>
          <a:p>
            <a:r>
              <a:rPr lang="en-US" sz="2500" dirty="0"/>
              <a:t>Enter Wi-Fi username and password.</a:t>
            </a:r>
          </a:p>
          <a:p>
            <a:r>
              <a:rPr lang="en-US" sz="2500" dirty="0"/>
              <a:t>Select the board ESP8266 and NodeMCU 1.0.</a:t>
            </a:r>
          </a:p>
          <a:p>
            <a:r>
              <a:rPr lang="en-US" sz="2500" dirty="0"/>
              <a:t>Now select the port and upload the program to the board.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AF479E-EA96-44FB-4B4A-AB2A3D6E0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76"/>
          <a:stretch/>
        </p:blipFill>
        <p:spPr bwMode="auto">
          <a:xfrm>
            <a:off x="6096000" y="1588582"/>
            <a:ext cx="5749681" cy="40300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 descr="95,800+ Agriculture Logo Stock Illustrations, Royalty-Free Vector Graphics  &amp; Clip Art - iStock | Agriculture logo vector, Agriculture logo badge,  Agriculture logo design">
            <a:extLst>
              <a:ext uri="{FF2B5EF4-FFF2-40B4-BE49-F238E27FC236}">
                <a16:creationId xmlns:a16="http://schemas.microsoft.com/office/drawing/2014/main" id="{BAE09A79-60CA-6EE7-6814-63FE4943BD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" t="2582" r="1485" b="73125"/>
          <a:stretch/>
        </p:blipFill>
        <p:spPr bwMode="auto">
          <a:xfrm>
            <a:off x="6150938" y="233857"/>
            <a:ext cx="5694743" cy="1160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C148E6-298B-2889-A2CF-E39956FA4D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748" b="51595"/>
          <a:stretch/>
        </p:blipFill>
        <p:spPr>
          <a:xfrm>
            <a:off x="266700" y="5463991"/>
            <a:ext cx="5829300" cy="106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145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024353F-F874-C434-17F8-8AAF3FF7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03" y="327626"/>
            <a:ext cx="10058400" cy="1609344"/>
          </a:xfrm>
        </p:spPr>
        <p:txBody>
          <a:bodyPr>
            <a:normAutofit/>
          </a:bodyPr>
          <a:lstStyle/>
          <a:p>
            <a:r>
              <a:rPr lang="en-US" sz="4000" b="1" dirty="0"/>
              <a:t>BLYNK Mobile dashboard:</a:t>
            </a:r>
            <a:endParaRPr lang="en-IN" sz="40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B029A2-8BAF-2350-3F3D-0D89F73E8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435" y="1812319"/>
            <a:ext cx="6435480" cy="3233361"/>
          </a:xfrm>
        </p:spPr>
        <p:txBody>
          <a:bodyPr>
            <a:normAutofit/>
          </a:bodyPr>
          <a:lstStyle/>
          <a:p>
            <a:r>
              <a:rPr lang="en-US" sz="2500" dirty="0"/>
              <a:t>Select the template we created in web dashboard.</a:t>
            </a:r>
          </a:p>
          <a:p>
            <a:r>
              <a:rPr lang="en-US" sz="2500" dirty="0"/>
              <a:t>Add gauge widgets for soil moisture, humidity and temperature.</a:t>
            </a:r>
          </a:p>
          <a:p>
            <a:r>
              <a:rPr lang="en-US" sz="2500" dirty="0"/>
              <a:t>Select data streams for all three widgets.</a:t>
            </a:r>
          </a:p>
          <a:p>
            <a:r>
              <a:rPr lang="en-US" sz="2500" dirty="0"/>
              <a:t>We can see the output in the web dashboard.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281743-C697-5A93-AACC-CF598B016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915" y="1667137"/>
            <a:ext cx="4724400" cy="41979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87783E4-3E0E-A232-334C-EB826869BC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748" b="51595"/>
          <a:stretch/>
        </p:blipFill>
        <p:spPr>
          <a:xfrm>
            <a:off x="266700" y="5463991"/>
            <a:ext cx="5829300" cy="1066383"/>
          </a:xfrm>
          <a:prstGeom prst="rect">
            <a:avLst/>
          </a:prstGeom>
        </p:spPr>
      </p:pic>
      <p:pic>
        <p:nvPicPr>
          <p:cNvPr id="3" name="Picture 2" descr="95,800+ Agriculture Logo Stock Illustrations, Royalty-Free Vector Graphics  &amp; Clip Art - iStock | Agriculture logo vector, Agriculture logo badge,  Agriculture logo design">
            <a:extLst>
              <a:ext uri="{FF2B5EF4-FFF2-40B4-BE49-F238E27FC236}">
                <a16:creationId xmlns:a16="http://schemas.microsoft.com/office/drawing/2014/main" id="{1CB83C02-B938-B00A-DEF7-852F6437A0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" t="2582" r="1485" b="73125"/>
          <a:stretch/>
        </p:blipFill>
        <p:spPr bwMode="auto">
          <a:xfrm>
            <a:off x="6230557" y="233857"/>
            <a:ext cx="5694743" cy="1160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862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CA40D0-9760-29E2-68F5-F9D647842F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1008" y="1241245"/>
            <a:ext cx="6186466" cy="535792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013B5FA-B08B-2D85-B985-5F8C95D96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371" y="258833"/>
            <a:ext cx="10058400" cy="1609344"/>
          </a:xfrm>
        </p:spPr>
        <p:txBody>
          <a:bodyPr>
            <a:normAutofit/>
          </a:bodyPr>
          <a:lstStyle/>
          <a:p>
            <a:r>
              <a:rPr lang="en-US" sz="4000" b="1" dirty="0"/>
              <a:t>How it works:</a:t>
            </a:r>
            <a:endParaRPr lang="en-IN" sz="4000" b="1" dirty="0"/>
          </a:p>
        </p:txBody>
      </p:sp>
      <p:pic>
        <p:nvPicPr>
          <p:cNvPr id="2" name="Picture 1" descr="95,800+ Agriculture Logo Stock Illustrations, Royalty-Free Vector Graphics  &amp; Clip Art - iStock | Agriculture logo vector, Agriculture logo badge,  Agriculture logo design">
            <a:extLst>
              <a:ext uri="{FF2B5EF4-FFF2-40B4-BE49-F238E27FC236}">
                <a16:creationId xmlns:a16="http://schemas.microsoft.com/office/drawing/2014/main" id="{4578A0FA-BD28-BE85-30EF-6A488935DB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" t="2582" r="1485" b="73125"/>
          <a:stretch/>
        </p:blipFill>
        <p:spPr bwMode="auto">
          <a:xfrm>
            <a:off x="6362217" y="81094"/>
            <a:ext cx="5694743" cy="1160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2644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D24048-56E0-4E01-4B5F-9165321D8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826" y="1412111"/>
            <a:ext cx="9919504" cy="5029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098441-D6F0-B31D-8FB0-B406E3AD2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467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4000" b="1" dirty="0"/>
              <a:t>Project Demo :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2347052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7D38C-C8D7-46A7-419A-DA67CDC32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61458-D2C3-69A1-EC8B-FE9683BE6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97" y="100876"/>
            <a:ext cx="10058400" cy="1609344"/>
          </a:xfrm>
        </p:spPr>
        <p:txBody>
          <a:bodyPr>
            <a:normAutofit/>
          </a:bodyPr>
          <a:lstStyle/>
          <a:p>
            <a:r>
              <a:rPr lang="en-US" sz="4000" b="1" dirty="0"/>
              <a:t>CONCLUSION :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F3BDF-3BB2-BAE6-16AE-A7B6BEEF4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991" y="1510169"/>
            <a:ext cx="12275038" cy="3314348"/>
          </a:xfrm>
        </p:spPr>
        <p:txBody>
          <a:bodyPr>
            <a:normAutofit/>
          </a:bodyPr>
          <a:lstStyle/>
          <a:p>
            <a:r>
              <a:rPr lang="en-US" sz="2500" b="1" dirty="0"/>
              <a:t>Smart Agriculture Monitoring System: </a:t>
            </a:r>
          </a:p>
          <a:p>
            <a:pPr marL="0" indent="0">
              <a:buNone/>
            </a:pPr>
            <a:r>
              <a:rPr lang="en-US" sz="2500" b="1" dirty="0"/>
              <a:t>  </a:t>
            </a:r>
            <a:r>
              <a:rPr lang="en-US" sz="2500" dirty="0"/>
              <a:t>- Revolutionizing farming practices through IoT and data analytics.</a:t>
            </a:r>
          </a:p>
          <a:p>
            <a:pPr marL="0" indent="0">
              <a:buNone/>
            </a:pPr>
            <a:r>
              <a:rPr lang="en-US" sz="2500" dirty="0"/>
              <a:t>  - Optimizing crop growth, reducing waste, and enhancing yields.</a:t>
            </a:r>
          </a:p>
          <a:p>
            <a:pPr marL="0" indent="0">
              <a:buNone/>
            </a:pPr>
            <a:r>
              <a:rPr lang="en-US" sz="2500" dirty="0"/>
              <a:t>  - Enhanced food security,  livelihoods, promoting sustainable agriculture.</a:t>
            </a:r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r>
              <a:rPr lang="en-US" sz="2500" b="1" dirty="0"/>
              <a:t>"Technology is the key to unlocking a more efficient, productive, and sustainable agricultural sector." </a:t>
            </a:r>
          </a:p>
        </p:txBody>
      </p:sp>
      <p:pic>
        <p:nvPicPr>
          <p:cNvPr id="1026" name="Picture 2" descr="95,800+ Agriculture Logo Stock Illustrations, Royalty-Free Vector Graphics  &amp; Clip Art - iStock | Agriculture logo vector, Agriculture logo badge,  Agriculture logo design">
            <a:extLst>
              <a:ext uri="{FF2B5EF4-FFF2-40B4-BE49-F238E27FC236}">
                <a16:creationId xmlns:a16="http://schemas.microsoft.com/office/drawing/2014/main" id="{9DA70CB7-13A8-7651-91F0-44E410F703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" t="2582" r="1485" b="73125"/>
          <a:stretch/>
        </p:blipFill>
        <p:spPr bwMode="auto">
          <a:xfrm>
            <a:off x="199991" y="5012300"/>
            <a:ext cx="5694743" cy="125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2042F8-3554-4838-627B-031E1F708A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748" b="51595"/>
          <a:stretch/>
        </p:blipFill>
        <p:spPr>
          <a:xfrm>
            <a:off x="5894734" y="5012300"/>
            <a:ext cx="5829300" cy="106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286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B19A4C35-9F5C-DFF2-3529-16CC6734BB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06C7AB7-7593-8221-7BF7-D818D9938C40}"/>
              </a:ext>
            </a:extLst>
          </p:cNvPr>
          <p:cNvSpPr txBox="1">
            <a:spLocks/>
          </p:cNvSpPr>
          <p:nvPr/>
        </p:nvSpPr>
        <p:spPr>
          <a:xfrm>
            <a:off x="1373436" y="1819275"/>
            <a:ext cx="10058400" cy="1609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b="1" dirty="0"/>
              <a:t>Thank you!</a:t>
            </a:r>
            <a:endParaRPr lang="en-IN" sz="5000" dirty="0"/>
          </a:p>
        </p:txBody>
      </p:sp>
    </p:spTree>
    <p:extLst>
      <p:ext uri="{BB962C8B-B14F-4D97-AF65-F5344CB8AC3E}">
        <p14:creationId xmlns:p14="http://schemas.microsoft.com/office/powerpoint/2010/main" val="370456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985</TotalTime>
  <Words>610</Words>
  <Application>Microsoft Office PowerPoint</Application>
  <PresentationFormat>Widescreen</PresentationFormat>
  <Paragraphs>72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Rockwell</vt:lpstr>
      <vt:lpstr>Rockwell Condensed</vt:lpstr>
      <vt:lpstr>Times New Roman</vt:lpstr>
      <vt:lpstr>Wingdings</vt:lpstr>
      <vt:lpstr>Wood Type</vt:lpstr>
      <vt:lpstr>Smart Agricultural Monitoring System for Optimized Crop Growth Using Soil Moisture Sensor and IoT Integration</vt:lpstr>
      <vt:lpstr>PowerPoint Presentation</vt:lpstr>
      <vt:lpstr>Introduction: </vt:lpstr>
      <vt:lpstr>PowerPoint Presentation</vt:lpstr>
      <vt:lpstr>Solution:</vt:lpstr>
      <vt:lpstr>Objectives:</vt:lpstr>
      <vt:lpstr>SYSTEM COMPONENTS :</vt:lpstr>
      <vt:lpstr>PowerPoint Presentation</vt:lpstr>
      <vt:lpstr>PowerPoint Presentation</vt:lpstr>
      <vt:lpstr>PowerPoint Presentation</vt:lpstr>
      <vt:lpstr>CIRCUIT DIAGRAM:</vt:lpstr>
      <vt:lpstr>BLYNK APP:</vt:lpstr>
      <vt:lpstr>Arduino:</vt:lpstr>
      <vt:lpstr>BLYNK Mobile dashboard:</vt:lpstr>
      <vt:lpstr>How it works:</vt:lpstr>
      <vt:lpstr>Project Demo :</vt:lpstr>
      <vt:lpstr>CONCLUSION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AGRICULTURE MONITORING SYSTEM</dc:title>
  <dc:creator>harshinigunji8008@gmail.com</dc:creator>
  <cp:lastModifiedBy>d v Sai Kumar</cp:lastModifiedBy>
  <cp:revision>22</cp:revision>
  <dcterms:created xsi:type="dcterms:W3CDTF">2024-09-22T10:59:38Z</dcterms:created>
  <dcterms:modified xsi:type="dcterms:W3CDTF">2025-09-10T06:51:50Z</dcterms:modified>
</cp:coreProperties>
</file>