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6.jpg" ContentType="image/jpg"/>
  <Override PartName="/ppt/media/image7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8"/>
  </p:notesMasterIdLst>
  <p:sldIdLst>
    <p:sldId id="256" r:id="rId2"/>
    <p:sldId id="257" r:id="rId3"/>
    <p:sldId id="264" r:id="rId4"/>
    <p:sldId id="258" r:id="rId5"/>
    <p:sldId id="259" r:id="rId6"/>
    <p:sldId id="260" r:id="rId7"/>
    <p:sldId id="266" r:id="rId8"/>
    <p:sldId id="280" r:id="rId9"/>
    <p:sldId id="281" r:id="rId10"/>
    <p:sldId id="267" r:id="rId11"/>
    <p:sldId id="268" r:id="rId12"/>
    <p:sldId id="269" r:id="rId13"/>
    <p:sldId id="276" r:id="rId14"/>
    <p:sldId id="277" r:id="rId15"/>
    <p:sldId id="278" r:id="rId16"/>
    <p:sldId id="279" r:id="rId17"/>
  </p:sldIdLst>
  <p:sldSz cx="14630400" cy="8229600"/>
  <p:notesSz cx="8229600" cy="14630400"/>
  <p:embeddedFontLst>
    <p:embeddedFont>
      <p:font typeface="Arial Black" panose="020B0A04020102020204" pitchFamily="34" charset="0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4CD4F-239D-4764-AAF4-95FC80E32BE3}" v="68" dt="2025-11-19T18:18:30.124"/>
    <p1510:client id="{C50F191F-0551-4A23-89E2-B9E1922D2689}" v="22" dt="2025-11-20T08:57:08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thu Kumar" userId="c41ebbd6487c5566" providerId="LiveId" clId="{97EEE863-345B-485B-8581-7BFFA70CD850}"/>
    <pc:docChg chg="undo custSel addSld modSld">
      <pc:chgData name="Dathu Kumar" userId="c41ebbd6487c5566" providerId="LiveId" clId="{97EEE863-345B-485B-8581-7BFFA70CD850}" dt="2025-11-20T08:58:58.415" v="150" actId="20577"/>
      <pc:docMkLst>
        <pc:docMk/>
      </pc:docMkLst>
      <pc:sldChg chg="modSp mod">
        <pc:chgData name="Dathu Kumar" userId="c41ebbd6487c5566" providerId="LiveId" clId="{97EEE863-345B-485B-8581-7BFFA70CD850}" dt="2025-11-20T08:49:35.950" v="2" actId="14100"/>
        <pc:sldMkLst>
          <pc:docMk/>
          <pc:sldMk cId="0" sldId="258"/>
        </pc:sldMkLst>
        <pc:picChg chg="mod">
          <ac:chgData name="Dathu Kumar" userId="c41ebbd6487c5566" providerId="LiveId" clId="{97EEE863-345B-485B-8581-7BFFA70CD850}" dt="2025-11-20T08:49:35.950" v="2" actId="14100"/>
          <ac:picMkLst>
            <pc:docMk/>
            <pc:sldMk cId="0" sldId="258"/>
            <ac:picMk id="5" creationId="{2D06C52B-B934-8AAF-8510-0138C95477FC}"/>
          </ac:picMkLst>
        </pc:picChg>
      </pc:sldChg>
      <pc:sldChg chg="addSp modSp">
        <pc:chgData name="Dathu Kumar" userId="c41ebbd6487c5566" providerId="LiveId" clId="{97EEE863-345B-485B-8581-7BFFA70CD850}" dt="2025-11-20T08:50:55.150" v="5"/>
        <pc:sldMkLst>
          <pc:docMk/>
          <pc:sldMk cId="2626676459" sldId="266"/>
        </pc:sldMkLst>
        <pc:picChg chg="add mod">
          <ac:chgData name="Dathu Kumar" userId="c41ebbd6487c5566" providerId="LiveId" clId="{97EEE863-345B-485B-8581-7BFFA70CD850}" dt="2025-11-20T08:50:55.150" v="5"/>
          <ac:picMkLst>
            <pc:docMk/>
            <pc:sldMk cId="2626676459" sldId="266"/>
            <ac:picMk id="2" creationId="{04975DE8-5921-114C-C7AD-57C8760437F5}"/>
          </ac:picMkLst>
        </pc:picChg>
      </pc:sldChg>
      <pc:sldChg chg="addSp modSp new mod">
        <pc:chgData name="Dathu Kumar" userId="c41ebbd6487c5566" providerId="LiveId" clId="{97EEE863-345B-485B-8581-7BFFA70CD850}" dt="2025-11-20T08:58:36.982" v="122" actId="20577"/>
        <pc:sldMkLst>
          <pc:docMk/>
          <pc:sldMk cId="3426350450" sldId="280"/>
        </pc:sldMkLst>
        <pc:spChg chg="add mod">
          <ac:chgData name="Dathu Kumar" userId="c41ebbd6487c5566" providerId="LiveId" clId="{97EEE863-345B-485B-8581-7BFFA70CD850}" dt="2025-11-20T08:52:13.257" v="8" actId="767"/>
          <ac:spMkLst>
            <pc:docMk/>
            <pc:sldMk cId="3426350450" sldId="280"/>
            <ac:spMk id="4" creationId="{61F5953C-DAF9-0965-1A58-96C850838081}"/>
          </ac:spMkLst>
        </pc:spChg>
        <pc:spChg chg="add mod">
          <ac:chgData name="Dathu Kumar" userId="c41ebbd6487c5566" providerId="LiveId" clId="{97EEE863-345B-485B-8581-7BFFA70CD850}" dt="2025-11-20T08:58:36.982" v="122" actId="20577"/>
          <ac:spMkLst>
            <pc:docMk/>
            <pc:sldMk cId="3426350450" sldId="280"/>
            <ac:spMk id="5" creationId="{202DB5B5-7C4F-520C-BDAF-9A8745992223}"/>
          </ac:spMkLst>
        </pc:spChg>
        <pc:picChg chg="add mod">
          <ac:chgData name="Dathu Kumar" userId="c41ebbd6487c5566" providerId="LiveId" clId="{97EEE863-345B-485B-8581-7BFFA70CD850}" dt="2025-11-20T08:50:51.650" v="4"/>
          <ac:picMkLst>
            <pc:docMk/>
            <pc:sldMk cId="3426350450" sldId="280"/>
            <ac:picMk id="2" creationId="{C7C56E3A-86E6-B39B-0B01-693818A77F4A}"/>
          </ac:picMkLst>
        </pc:picChg>
        <pc:picChg chg="add mod">
          <ac:chgData name="Dathu Kumar" userId="c41ebbd6487c5566" providerId="LiveId" clId="{97EEE863-345B-485B-8581-7BFFA70CD850}" dt="2025-11-20T08:50:59.055" v="6"/>
          <ac:picMkLst>
            <pc:docMk/>
            <pc:sldMk cId="3426350450" sldId="280"/>
            <ac:picMk id="3" creationId="{820F6E70-2686-7EC1-0B09-610FE9C661D2}"/>
          </ac:picMkLst>
        </pc:picChg>
      </pc:sldChg>
      <pc:sldChg chg="addSp modSp new mod">
        <pc:chgData name="Dathu Kumar" userId="c41ebbd6487c5566" providerId="LiveId" clId="{97EEE863-345B-485B-8581-7BFFA70CD850}" dt="2025-11-20T08:58:58.415" v="150" actId="20577"/>
        <pc:sldMkLst>
          <pc:docMk/>
          <pc:sldMk cId="1992569480" sldId="281"/>
        </pc:sldMkLst>
        <pc:spChg chg="add mod">
          <ac:chgData name="Dathu Kumar" userId="c41ebbd6487c5566" providerId="LiveId" clId="{97EEE863-345B-485B-8581-7BFFA70CD850}" dt="2025-11-20T08:58:58.415" v="150" actId="20577"/>
          <ac:spMkLst>
            <pc:docMk/>
            <pc:sldMk cId="1992569480" sldId="281"/>
            <ac:spMk id="4" creationId="{9F902287-0384-769D-A444-D822A0A0E545}"/>
          </ac:spMkLst>
        </pc:spChg>
        <pc:picChg chg="add mod">
          <ac:chgData name="Dathu Kumar" userId="c41ebbd6487c5566" providerId="LiveId" clId="{97EEE863-345B-485B-8581-7BFFA70CD850}" dt="2025-11-20T08:55:58.632" v="43"/>
          <ac:picMkLst>
            <pc:docMk/>
            <pc:sldMk cId="1992569480" sldId="281"/>
            <ac:picMk id="2" creationId="{B2CCAA1A-76DE-6710-5613-BDEEE081D216}"/>
          </ac:picMkLst>
        </pc:picChg>
        <pc:picChg chg="add mod">
          <ac:chgData name="Dathu Kumar" userId="c41ebbd6487c5566" providerId="LiveId" clId="{97EEE863-345B-485B-8581-7BFFA70CD850}" dt="2025-11-20T08:56:03.487" v="44"/>
          <ac:picMkLst>
            <pc:docMk/>
            <pc:sldMk cId="1992569480" sldId="281"/>
            <ac:picMk id="3" creationId="{0118D10C-D160-FF76-F4FA-BF5384F50A2B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22:00:07.255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56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0202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03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50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522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704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4202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83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1556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577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5298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345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247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111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58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064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33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19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7.jpg"/><Relationship Id="rId7" Type="http://schemas.openxmlformats.org/officeDocument/2006/relationships/image" Target="../media/image1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93808" y="2608936"/>
            <a:ext cx="1244083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RECOMMENDATION SYSTEM</a:t>
            </a:r>
          </a:p>
          <a:p>
            <a:pPr algn="ctr">
              <a:lnSpc>
                <a:spcPts val="5850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DSA0402-Fundamentals of Data Science and Data Management</a:t>
            </a:r>
          </a:p>
        </p:txBody>
      </p:sp>
      <p:sp>
        <p:nvSpPr>
          <p:cNvPr id="4" name="Text 1"/>
          <p:cNvSpPr/>
          <p:nvPr/>
        </p:nvSpPr>
        <p:spPr>
          <a:xfrm>
            <a:off x="625346" y="35844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277B4F3-BF24-129C-9C3B-503E86FA9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4" y="455861"/>
            <a:ext cx="12440839" cy="995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41A92F-83AF-552C-B968-E314833DEE60}"/>
              </a:ext>
            </a:extLst>
          </p:cNvPr>
          <p:cNvSpPr txBox="1"/>
          <p:nvPr/>
        </p:nvSpPr>
        <p:spPr>
          <a:xfrm>
            <a:off x="993808" y="5956917"/>
            <a:ext cx="3923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D. Manikavelan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Jayaprakash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EAD0D-DA1C-44A8-A18B-C9FDAEE31916}"/>
              </a:ext>
            </a:extLst>
          </p:cNvPr>
          <p:cNvSpPr txBox="1"/>
          <p:nvPr/>
        </p:nvSpPr>
        <p:spPr>
          <a:xfrm>
            <a:off x="9553844" y="5956917"/>
            <a:ext cx="47221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Nampalli Satish Kumar (192324128)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Lekkala Dattu Kumar (192324141)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V. Sai Kumar (192372321)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5168" y="2077194"/>
            <a:ext cx="743664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 1"/>
          <p:cNvSpPr/>
          <p:nvPr/>
        </p:nvSpPr>
        <p:spPr>
          <a:xfrm>
            <a:off x="735054" y="3375141"/>
            <a:ext cx="7590800" cy="4462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Movie Recommendation System analyzes large volumes of data such as user ratings, genres, reviews, and movie features. By applying techniques like collaborative filtering, content-based filtering, and hybrid recommendation methods, the system identifies patterns and predicts what a user is most likely to enjoy.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Such systems are widely used on popular platforms like Netflix, Amazon Prime Video, and Disney+, where personalized recommendations play a crucial role in user satisfaction. Implementing a Movie Recommendation System not only demonstrates the application of machine learning and data mining concepts but also highlights the importance of personalization in modern digital services.</a:t>
            </a:r>
          </a:p>
          <a:p>
            <a:br>
              <a:rPr lang="en-US" sz="2400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E7539228-4137-E1C9-87E3-70EEDEDE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48" y="392441"/>
            <a:ext cx="12356432" cy="982238"/>
          </a:xfrm>
          <a:prstGeom prst="rect">
            <a:avLst/>
          </a:prstGeom>
        </p:spPr>
      </p:pic>
      <p:pic>
        <p:nvPicPr>
          <p:cNvPr id="1026" name="Picture 2" descr="How to Create a Vector-Based Movie Recommendation System Using Qdrant DB? |  by Akriti Upadhyay | Medium">
            <a:extLst>
              <a:ext uri="{FF2B5EF4-FFF2-40B4-BE49-F238E27FC236}">
                <a16:creationId xmlns:a16="http://schemas.microsoft.com/office/drawing/2014/main" id="{F9E60DB1-CB69-3750-36E8-F80A2DD21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960" y="2672626"/>
            <a:ext cx="5656846" cy="496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819643-FA45-A7F3-4ABD-0701A82C2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93" y="267306"/>
            <a:ext cx="12962321" cy="1579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2CA9EC-DA3C-837E-4F1F-DA4F55DA44D6}"/>
              </a:ext>
            </a:extLst>
          </p:cNvPr>
          <p:cNvSpPr txBox="1"/>
          <p:nvPr/>
        </p:nvSpPr>
        <p:spPr>
          <a:xfrm>
            <a:off x="5241101" y="2163577"/>
            <a:ext cx="8133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76B17-DAA3-C140-8FDF-FC1D77984242}"/>
              </a:ext>
            </a:extLst>
          </p:cNvPr>
          <p:cNvSpPr txBox="1"/>
          <p:nvPr/>
        </p:nvSpPr>
        <p:spPr>
          <a:xfrm>
            <a:off x="1311441" y="3099424"/>
            <a:ext cx="11802979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building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Recommendation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provides personalized movie suggestions to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movie datasets, including genres, descriptions, and user ratings.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used as the main model to classify and predict user preferences based on extracted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helps in identifying patterns in high-dimensional movie data and improves the accuracy of recommendations.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analysis is applied to find relationships between movies and user viewing behavior.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content-based features and statistical modeling to generate reliable predictions.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provides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list of recommended movies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tailored to individual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offers an efficient, intelligent, and accurate method for personalized movie discovery.</a:t>
            </a:r>
          </a:p>
        </p:txBody>
      </p:sp>
    </p:spTree>
    <p:extLst>
      <p:ext uri="{BB962C8B-B14F-4D97-AF65-F5344CB8AC3E}">
        <p14:creationId xmlns:p14="http://schemas.microsoft.com/office/powerpoint/2010/main" val="7567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485" y="2137441"/>
            <a:ext cx="772239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15" name="Image 0">
            <a:extLst>
              <a:ext uri="{FF2B5EF4-FFF2-40B4-BE49-F238E27FC236}">
                <a16:creationId xmlns:a16="http://schemas.microsoft.com/office/drawing/2014/main" id="{2D31974A-2B41-D5CE-D954-3B6F00225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627" y="288356"/>
            <a:ext cx="11755930" cy="1482610"/>
          </a:xfrm>
          <a:prstGeom prst="rect">
            <a:avLst/>
          </a:prstGeom>
        </p:spPr>
      </p:pic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2D06C52B-B934-8AAF-8510-0138C9547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50" y="2837749"/>
            <a:ext cx="13138484" cy="53179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4123" y="2072432"/>
            <a:ext cx="864536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40428" y="3014296"/>
            <a:ext cx="11191008" cy="521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online movie platforms makes it difficult for users to manually select movies that match their interests.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receive general or irrelevant movie suggestions, resulting in poor viewing experience.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recommendation systems struggle to accurately predict user preferences due to large and complex movie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automatically analyze user behavior, movie features, and rating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 machine learning model is required to classify and predict movies that a user is likely to enjoy.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can effectively handle high-dimensional features and improve recommendation accuracy.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problem is 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SVM-based movie recommendation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provides personalized, accurate, and meaningful movie suggestions to users.</a:t>
            </a:r>
          </a:p>
        </p:txBody>
      </p:sp>
      <p:sp>
        <p:nvSpPr>
          <p:cNvPr id="4" name="Text 2"/>
          <p:cNvSpPr/>
          <p:nvPr/>
        </p:nvSpPr>
        <p:spPr>
          <a:xfrm>
            <a:off x="793790" y="41471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5661" y="46965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5661" y="51177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5661" y="55390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0502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1FCEA5C7-3C70-D7C9-F532-D65925351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85" y="271228"/>
            <a:ext cx="12544988" cy="1261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>
            <a:extLst>
              <a:ext uri="{FF2B5EF4-FFF2-40B4-BE49-F238E27FC236}">
                <a16:creationId xmlns:a16="http://schemas.microsoft.com/office/drawing/2014/main" id="{2C854704-8A3A-FAAC-1CBF-B565F2EA0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80" y="300751"/>
            <a:ext cx="12875048" cy="129468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E243990-1B18-45C7-9980-F73BE4F6324B}"/>
              </a:ext>
            </a:extLst>
          </p:cNvPr>
          <p:cNvSpPr txBox="1"/>
          <p:nvPr/>
        </p:nvSpPr>
        <p:spPr>
          <a:xfrm>
            <a:off x="3773606" y="2130424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888400-2974-4A61-8C9A-6452AD3204DD}"/>
              </a:ext>
            </a:extLst>
          </p:cNvPr>
          <p:cNvSpPr txBox="1"/>
          <p:nvPr/>
        </p:nvSpPr>
        <p:spPr>
          <a:xfrm>
            <a:off x="559559" y="2665865"/>
            <a:ext cx="7697337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collect and prepare movie datasets containing genres, ratings, descriptions, and user information.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extract meaningful features from movie data for effective recommendation.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apply </a:t>
            </a:r>
            <a:r>
              <a:rPr lang="en-US" b="1" dirty="0"/>
              <a:t>Support Vector Machine (SVM)</a:t>
            </a:r>
            <a:r>
              <a:rPr lang="en-US" dirty="0"/>
              <a:t> for classifying user preferences and predicting suitable movies.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compute similarity between movies and users based on extracted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generate personalized movie recommendations with high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design a system that improves user experience by suggesting relevant movies.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evaluate the performance of the recommendation system using appropriate metrics.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create an efficient, scalable, and intelligent recommendation model.</a:t>
            </a:r>
          </a:p>
        </p:txBody>
      </p:sp>
      <p:pic>
        <p:nvPicPr>
          <p:cNvPr id="2050" name="Picture 2" descr="GitHub - Aditya-Bhate/Movie-Recommendation-System-using-R: The main goal of  this machine learning project is to build a recommendation engine that recommends  movies to users. This R project is designed to help understand how a">
            <a:extLst>
              <a:ext uri="{FF2B5EF4-FFF2-40B4-BE49-F238E27FC236}">
                <a16:creationId xmlns:a16="http://schemas.microsoft.com/office/drawing/2014/main" id="{4ADF8933-3384-C775-3CFA-C39DA627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358" y="3262313"/>
            <a:ext cx="5161547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E8B8B5-97A8-210B-0921-4505799D2C64}"/>
              </a:ext>
            </a:extLst>
          </p:cNvPr>
          <p:cNvSpPr txBox="1"/>
          <p:nvPr/>
        </p:nvSpPr>
        <p:spPr>
          <a:xfrm>
            <a:off x="2221391" y="639001"/>
            <a:ext cx="10776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414F5625-C900-486F-B690-8E1AA8B781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120790"/>
            <a:ext cx="1324298" cy="1611476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A10EE2B8-C703-48C1-A561-421DED85A7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175381"/>
            <a:ext cx="1824074" cy="1611476"/>
          </a:xfrm>
          <a:prstGeom prst="rect">
            <a:avLst/>
          </a:prstGeom>
        </p:spPr>
      </p:pic>
      <p:pic>
        <p:nvPicPr>
          <p:cNvPr id="3080" name="Picture 8" descr="Architecture diagram for movie recommendation system | Download Scientific  Diagram">
            <a:extLst>
              <a:ext uri="{FF2B5EF4-FFF2-40B4-BE49-F238E27FC236}">
                <a16:creationId xmlns:a16="http://schemas.microsoft.com/office/drawing/2014/main" id="{8791A6D5-9347-06F6-0B81-E0EF9737A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538" y="1961147"/>
            <a:ext cx="11269506" cy="581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67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C7C56E3A-86E6-B39B-0B01-693818A77F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120790"/>
            <a:ext cx="1324298" cy="1611476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820F6E70-2686-7EC1-0B09-610FE9C661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175381"/>
            <a:ext cx="1824074" cy="1611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2DB5B5-7C4F-520C-BDAF-9A8745992223}"/>
              </a:ext>
            </a:extLst>
          </p:cNvPr>
          <p:cNvSpPr txBox="1"/>
          <p:nvPr/>
        </p:nvSpPr>
        <p:spPr>
          <a:xfrm>
            <a:off x="997527" y="1870364"/>
            <a:ext cx="13443591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Sources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collect raw data (text, reviews, comments, feedback).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noise, fix spelling, remove special characters, convert to lowercase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aim is to make the text ready for analysis.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Sentiment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check whether the text is: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Positive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Negative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Neutral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the user’s emotion.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Feature Extraction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convert text into numbers so that a machine can understand it.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TF-IDF, word embeddings, sentiment scores.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Support Vector Machine (SVM)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 (classical) SVM model learns from the features and predicts categories.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35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B2CCAA1A-76DE-6710-5613-BDEEE081D2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120790"/>
            <a:ext cx="1324298" cy="1611476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0118D10C-D160-FF76-F4FA-BF5384F50A2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175381"/>
            <a:ext cx="1824074" cy="1611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902287-0384-769D-A444-D822A0A0E545}"/>
              </a:ext>
            </a:extLst>
          </p:cNvPr>
          <p:cNvSpPr txBox="1"/>
          <p:nvPr/>
        </p:nvSpPr>
        <p:spPr>
          <a:xfrm>
            <a:off x="1143000" y="2026227"/>
            <a:ext cx="126457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Quantum Computing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quantum computer processes the data using quantum algorithms.</a:t>
            </a:r>
          </a:p>
          <a:p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Quantum Support Vector Machine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quantum version of SVM that may give faster or better results on certain problems.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Model Aggregation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combine: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SVM results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Quantum SVM results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a better final decision.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Suggestion Engine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is turned into useful recommendations or suggestions.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Example: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sentiment is negative → suggest customer support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sentiment is positive → suggest promotions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If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preferences detected → recommend products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569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064F-94BC-2A28-08D6-7F05DFC2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409" y="1207263"/>
            <a:ext cx="9599612" cy="105000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MODULE 1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Data Preparation &amp; Feature Extraction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608BAB80-DF65-97AF-9637-816C27690D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120790"/>
            <a:ext cx="1324298" cy="1611476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CA4D92AC-AE0F-3584-AE10-CBA93CC2FD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175381"/>
            <a:ext cx="1824074" cy="16114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B870FD-BF79-4565-8335-A86737C2B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40042" y="2257268"/>
            <a:ext cx="11077002" cy="5851542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Collect movie datasets (MovieLens/TMDB/IMDb).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Load movie details (</a:t>
            </a:r>
            <a:r>
              <a:rPr lang="en-IN" dirty="0" err="1"/>
              <a:t>MovieID</a:t>
            </a:r>
            <a:r>
              <a:rPr lang="en-IN" dirty="0"/>
              <a:t>, Title, Genres).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Load user rating data (</a:t>
            </a:r>
            <a:r>
              <a:rPr lang="en-IN" dirty="0" err="1"/>
              <a:t>UserID</a:t>
            </a:r>
            <a:r>
              <a:rPr lang="en-IN" dirty="0"/>
              <a:t>, </a:t>
            </a:r>
            <a:r>
              <a:rPr lang="en-IN" dirty="0" err="1"/>
              <a:t>MovieID</a:t>
            </a:r>
            <a:r>
              <a:rPr lang="en-IN" dirty="0"/>
              <a:t>, Rating).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Clean the data:</a:t>
            </a:r>
          </a:p>
          <a:p>
            <a:pPr marL="834390" lvl="1" indent="-285750">
              <a:buFont typeface="Arial" panose="020B0604020202020204" pitchFamily="34" charset="0"/>
              <a:buChar char="•"/>
            </a:pPr>
            <a:r>
              <a:rPr lang="en-IN" dirty="0"/>
              <a:t>Remove duplicates</a:t>
            </a:r>
          </a:p>
          <a:p>
            <a:pPr marL="834390" lvl="1" indent="-285750">
              <a:buFont typeface="Arial" panose="020B0604020202020204" pitchFamily="34" charset="0"/>
              <a:buChar char="•"/>
            </a:pPr>
            <a:r>
              <a:rPr lang="en-IN" dirty="0"/>
              <a:t>Handle missing values</a:t>
            </a:r>
          </a:p>
          <a:p>
            <a:pPr marL="834390" lvl="1" indent="-285750">
              <a:buFont typeface="Arial" panose="020B0604020202020204" pitchFamily="34" charset="0"/>
              <a:buChar char="•"/>
            </a:pPr>
            <a:r>
              <a:rPr lang="en-IN" dirty="0"/>
              <a:t>Standardize text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Convert genres into list format (e.g., "</a:t>
            </a:r>
            <a:r>
              <a:rPr lang="en-IN" dirty="0" err="1"/>
              <a:t>Action|Comedy</a:t>
            </a:r>
            <a:r>
              <a:rPr lang="en-IN" dirty="0"/>
              <a:t>").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Genre Features:</a:t>
            </a:r>
            <a:br>
              <a:rPr lang="en-IN" dirty="0"/>
            </a:br>
            <a:r>
              <a:rPr lang="en-IN" dirty="0"/>
              <a:t>Convert genres into numerical vectors using one-hot/multi-label encoding.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Text Features (optional):</a:t>
            </a:r>
            <a:br>
              <a:rPr lang="en-IN" dirty="0"/>
            </a:br>
            <a:r>
              <a:rPr lang="en-IN" dirty="0"/>
              <a:t>Extract features from movie descriptions or tags using TF-IDF or count vectorizer.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User–Movie Rating Matrix:</a:t>
            </a:r>
            <a:br>
              <a:rPr lang="en-IN" dirty="0"/>
            </a:br>
            <a:r>
              <a:rPr lang="en-IN" dirty="0"/>
              <a:t>Create a matrix with.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Columns = Movies</a:t>
            </a:r>
          </a:p>
          <a:p>
            <a:pPr lvl="1"/>
            <a:r>
              <a:rPr lang="en-IN" dirty="0"/>
              <a:t>Values = Ratings</a:t>
            </a:r>
          </a:p>
          <a:p>
            <a:r>
              <a:rPr lang="en-IN" b="1" dirty="0"/>
              <a:t>Similarity Features:</a:t>
            </a:r>
            <a:br>
              <a:rPr lang="en-IN" dirty="0"/>
            </a:br>
            <a:r>
              <a:rPr lang="en-IN" dirty="0"/>
              <a:t>Prepare cosine similarity inputs:</a:t>
            </a:r>
          </a:p>
          <a:p>
            <a:pPr lvl="1"/>
            <a:r>
              <a:rPr lang="en-IN" dirty="0"/>
              <a:t>Content-based similarity (genres/tags vectors)</a:t>
            </a:r>
          </a:p>
          <a:p>
            <a:pPr lvl="1"/>
            <a:r>
              <a:rPr lang="en-IN" dirty="0"/>
              <a:t>Collaborative filtering similarity (ratings matrix)</a:t>
            </a:r>
          </a:p>
        </p:txBody>
      </p:sp>
    </p:spTree>
    <p:extLst>
      <p:ext uri="{BB962C8B-B14F-4D97-AF65-F5344CB8AC3E}">
        <p14:creationId xmlns:p14="http://schemas.microsoft.com/office/powerpoint/2010/main" val="1258922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064F-94BC-2A28-08D6-7F05DFC2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122" y="1035710"/>
            <a:ext cx="10747690" cy="105000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MODULE 2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</a:b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Similarity Calculation &amp; Statistical Modeling</a:t>
            </a:r>
            <a:endParaRPr lang="en-IN" i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608BAB80-DF65-97AF-9637-816C27690D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229972"/>
            <a:ext cx="1324298" cy="1611476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CA4D92AC-AE0F-3584-AE10-CBA93CC2FD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229972"/>
            <a:ext cx="1824074" cy="16114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B870FD-BF79-4565-8335-A86737C2B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99" y="2334126"/>
            <a:ext cx="11851105" cy="5665502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Calculation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Cosine Similarity (Content-Based):</a:t>
            </a:r>
            <a:br>
              <a:rPr lang="en-US" dirty="0"/>
            </a:br>
            <a:r>
              <a:rPr lang="en-US" dirty="0"/>
              <a:t> Calculate similarity between movies using:</a:t>
            </a:r>
          </a:p>
          <a:p>
            <a:pPr marL="834390" lvl="1" indent="-285750">
              <a:buFont typeface="Arial" panose="020B0604020202020204" pitchFamily="34" charset="0"/>
              <a:buChar char="•"/>
            </a:pPr>
            <a:r>
              <a:rPr lang="en-US" dirty="0"/>
              <a:t>Genre vectors</a:t>
            </a:r>
          </a:p>
          <a:p>
            <a:pPr marL="834390" lvl="1" indent="-285750">
              <a:buFont typeface="Arial" panose="020B0604020202020204" pitchFamily="34" charset="0"/>
              <a:buChar char="•"/>
            </a:pPr>
            <a:r>
              <a:rPr lang="en-US" dirty="0"/>
              <a:t>tag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User–User Similarity (Collaborative Filtering):</a:t>
            </a:r>
            <a:br>
              <a:rPr lang="en-US" dirty="0"/>
            </a:br>
            <a:r>
              <a:rPr lang="en-US" dirty="0"/>
              <a:t>Measure similarity between users based on their rating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Item–Item Similarity (Collaborative Filtering):</a:t>
            </a:r>
            <a:br>
              <a:rPr lang="en-US" dirty="0"/>
            </a:br>
            <a:r>
              <a:rPr lang="en-US" dirty="0"/>
              <a:t>Calculate similarity between movies based on how users rated them.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Modeling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Correlation Analysis:</a:t>
            </a:r>
            <a:br>
              <a:rPr lang="en-US" dirty="0"/>
            </a:br>
            <a:r>
              <a:rPr lang="en-US" dirty="0"/>
              <a:t>Identify movies that have high rating correlation.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Matrix Factorization (optional):</a:t>
            </a:r>
            <a:br>
              <a:rPr lang="en-US" dirty="0"/>
            </a:br>
            <a:r>
              <a:rPr lang="en-US" dirty="0"/>
              <a:t>Use SVD to reduce dimensionality and capture hidden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Predicting Ratings:</a:t>
            </a:r>
            <a:br>
              <a:rPr lang="en-US" dirty="0"/>
            </a:br>
            <a:r>
              <a:rPr lang="en-US" dirty="0"/>
              <a:t>Estimate a user’s rating for an unseen movie using:</a:t>
            </a:r>
          </a:p>
          <a:p>
            <a:pPr marL="834390" lvl="1" indent="-285750">
              <a:buFont typeface="Arial" panose="020B0604020202020204" pitchFamily="34" charset="0"/>
              <a:buChar char="•"/>
            </a:pPr>
            <a:r>
              <a:rPr lang="en-US" dirty="0"/>
              <a:t>Weighted average of similar users</a:t>
            </a:r>
          </a:p>
          <a:p>
            <a:pPr lvl="1"/>
            <a:endParaRPr lang="en-US" dirty="0"/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94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064F-94BC-2A28-08D6-7F05DFC2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978" y="1035710"/>
            <a:ext cx="10735658" cy="105000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MODULE 3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</a:b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Recommendation Algorithm Implementation</a:t>
            </a:r>
            <a:endParaRPr lang="en-IN" b="1" i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608BAB80-DF65-97AF-9637-816C27690D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229972"/>
            <a:ext cx="1324298" cy="1611476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CA4D92AC-AE0F-3584-AE10-CBA93CC2FD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229972"/>
            <a:ext cx="1824074" cy="16114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B870FD-BF79-4565-8335-A86737C2B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1758" y="1980550"/>
            <a:ext cx="11622505" cy="6249050"/>
          </a:xfrm>
        </p:spPr>
        <p:txBody>
          <a:bodyPr>
            <a:noAutofit/>
          </a:bodyPr>
          <a:lstStyle/>
          <a:p>
            <a:r>
              <a:rPr lang="en-US" b="1" dirty="0"/>
              <a:t>1. Content-Based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Extract movie feature vectors (genres, tags, descriptions).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Calculate cosine similarity between movies.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movies most similar to the user’s liked movie(s).</a:t>
            </a:r>
          </a:p>
          <a:p>
            <a:r>
              <a:rPr lang="en-US" b="1" dirty="0"/>
              <a:t>2. User–User Collaborative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user–movie rating matrix.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Calculate similarity between users using cosine similarity.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users with similar rating patterns.</a:t>
            </a:r>
          </a:p>
          <a:p>
            <a:r>
              <a:rPr lang="en-US" b="1" dirty="0"/>
              <a:t>3. Item–Item Collaborative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movies based on user rating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Calculate similarity between movie rating vectors.</a:t>
            </a:r>
            <a:endParaRPr lang="en-US" sz="2000" dirty="0"/>
          </a:p>
          <a:p>
            <a:r>
              <a:rPr lang="en-US" b="1" dirty="0"/>
              <a:t>4. Hybrid Recommendation (Optional)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Combine content-based and collaborative filtering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Weight both models to generate final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Provide more accurate and diverse movie suggestions.</a:t>
            </a:r>
          </a:p>
          <a:p>
            <a:pPr>
              <a:lnSpc>
                <a:spcPct val="11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7850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99AF-8659-3B63-7F67-36D3FAB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056" y="595733"/>
            <a:ext cx="9791242" cy="69837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RESULTS/OUTPUT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8A438A15-AE60-FE80-01B5-3F448FD3CA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556" y="304786"/>
            <a:ext cx="1044608" cy="1160332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10AEDE87-08DF-91E5-9E1E-6E43081BFB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93782" y="471421"/>
            <a:ext cx="1305330" cy="1160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61D26B-A25E-1C26-89AF-AA63A013E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073" y="1713834"/>
            <a:ext cx="4516582" cy="2999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18C80D-7164-A8DF-D2A4-5BBF7A15A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879" y="1713834"/>
            <a:ext cx="4176353" cy="2996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C5F78D-59D1-D4D1-B549-2C92971F2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5496" y="1713834"/>
            <a:ext cx="5424904" cy="29997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2B6E88-983A-A306-94BA-9B73DED308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609" y="4709866"/>
            <a:ext cx="5085484" cy="35197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C8BD19-50D1-5566-E8DC-082001AF40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3364" y="4709866"/>
            <a:ext cx="6105525" cy="35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92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3671-D15B-9AE6-8550-8D8965BE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12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CONCLUSION</a:t>
            </a:r>
            <a:endParaRPr lang="en-IN" sz="312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2FCE1A-5C4C-FC38-F5D5-3D667A9D9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07305" y="8638674"/>
            <a:ext cx="3099333" cy="124326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46024-467E-85BD-53B6-A8E533F66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5840" y="2244662"/>
            <a:ext cx="12065924" cy="5984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SVM-based Movie Recommendation System successfully provides personalized movie suggestions to users.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proper data preparation and feature extraction, the system effectively captures meaningful patterns from movie datasets.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improves prediction accuracy by handling complex and high-dimensional features.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analysis further enhances the quality of recommendations by identifying relationships between movies and user preferences.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delivers relevant and ranked movie recommendations that help users make better choices.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model demonstrates an intelligent and efficient approach to movie recommendation, improving user satisfaction and decision-making.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also provides a foundation for future enhancements like hybrid models and deep learning-based recommendations.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BEA95D67-840D-938F-F09C-67CE439348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229972"/>
            <a:ext cx="1324298" cy="1611476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AEFE3127-2603-2ED6-EB82-728C0C2E64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95787" y="318566"/>
            <a:ext cx="1824074" cy="161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6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8"/>
    </mc:Choice>
    <mc:Fallback xmlns="">
      <p:transition spd="slow" advTm="238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4A25-09BE-C2E2-F880-E53144D7D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5" y="548641"/>
            <a:ext cx="12100621" cy="112677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REFERENCES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F4939-4EC9-84E0-51D8-C2F302802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227" y="1847678"/>
            <a:ext cx="12791209" cy="6400111"/>
          </a:xfrm>
        </p:spPr>
        <p:txBody>
          <a:bodyPr>
            <a:noAutofit/>
          </a:bodyPr>
          <a:lstStyle/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Liu, Q., Zeng, Y., &amp; Tao, C. (2019). “Collaborative Filtering Recommendation Algorithm Based on Support Vector Machine.” </a:t>
            </a:r>
            <a:r>
              <a:rPr lang="en-IN" sz="1800" i="1" dirty="0"/>
              <a:t>Journal of Intelligent &amp; Fuzzy Systems</a:t>
            </a:r>
            <a:r>
              <a:rPr lang="en-IN" sz="1800" dirty="0"/>
              <a:t>, 36(1), 337–346.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Gunawan, D., &amp; </a:t>
            </a:r>
            <a:r>
              <a:rPr lang="en-IN" sz="1800" dirty="0" err="1"/>
              <a:t>Suharjito</a:t>
            </a:r>
            <a:r>
              <a:rPr lang="en-IN" sz="1800" dirty="0"/>
              <a:t>. (2020). “Movie Recommendation System Using Support Vector Machine and KNN.” </a:t>
            </a:r>
            <a:r>
              <a:rPr lang="en-IN" sz="1800" i="1" dirty="0"/>
              <a:t>International Journal of Advanced Computer Science and Applications</a:t>
            </a:r>
            <a:r>
              <a:rPr lang="en-IN" sz="1800" dirty="0"/>
              <a:t>, 11(5), 234–240.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Al-</a:t>
            </a:r>
            <a:r>
              <a:rPr lang="en-IN" sz="1800" dirty="0" err="1"/>
              <a:t>Shamri</a:t>
            </a:r>
            <a:r>
              <a:rPr lang="en-IN" sz="1800" dirty="0"/>
              <a:t>, M. Y. H. (2020). “User Profiling Approaches for Personalized Recommender Systems Using SVM.” </a:t>
            </a:r>
            <a:r>
              <a:rPr lang="en-IN" sz="1800" i="1" dirty="0"/>
              <a:t>IEEE Access</a:t>
            </a:r>
            <a:r>
              <a:rPr lang="en-IN" sz="1800" dirty="0"/>
              <a:t>, 8, 10200–10212.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Sahoo, A. K., &amp; Kumar, R. (2021). “An Enhanced Recommendation Model Using SVM-Based Feature Classification.” </a:t>
            </a:r>
            <a:r>
              <a:rPr lang="en-IN" sz="1800" i="1" dirty="0"/>
              <a:t>Procedia Computer Science</a:t>
            </a:r>
            <a:r>
              <a:rPr lang="en-IN" sz="1800" dirty="0"/>
              <a:t>, 192, 4270–4279.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Reddy, P. S., &amp; Kumar, M. S. (2022). “SVM-Based Hybrid Recommender System for Improving Prediction Accuracy.” </a:t>
            </a:r>
            <a:r>
              <a:rPr lang="en-IN" sz="1800" i="1" dirty="0"/>
              <a:t>International Journal of Intelligent Engineering and Systems</a:t>
            </a:r>
            <a:r>
              <a:rPr lang="en-IN" sz="1800" dirty="0"/>
              <a:t>, 15(3), 260–270.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Khan, M. A., &amp; Ahmad, F. (2021). “SVM-Based Classification Approach for Building Efficient Recommendation Models.” </a:t>
            </a:r>
            <a:r>
              <a:rPr lang="en-IN" sz="1800" i="1" dirty="0"/>
              <a:t>Applied Computing and Informatics</a:t>
            </a:r>
            <a:r>
              <a:rPr lang="en-IN" sz="1800" dirty="0"/>
              <a:t>, 17(2), 186–195.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Li, X., Wang, H., &amp; Chen, Y. (2022). “Improving Movie Recommendations Using SVM-Driven Feature Analysis.” </a:t>
            </a:r>
            <a:r>
              <a:rPr lang="en-IN" sz="1800" i="1" dirty="0"/>
              <a:t>Expert Systems with Applications</a:t>
            </a:r>
            <a:r>
              <a:rPr lang="en-IN" sz="1800" dirty="0"/>
              <a:t>, 187, 115892.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br>
              <a:rPr lang="en-IN" sz="1800" dirty="0"/>
            </a:b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DB305D9-8E09-6FF6-53D3-6D83E967A8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5787" y="318566"/>
            <a:ext cx="1824074" cy="1611476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149F9E8-EBE8-8CB7-BFA4-880053423B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823" y="229972"/>
            <a:ext cx="1324298" cy="161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5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8"/>
    </mc:Choice>
    <mc:Fallback xmlns="">
      <p:transition spd="slow" advTm="147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>
            <a:extLst>
              <a:ext uri="{FF2B5EF4-FFF2-40B4-BE49-F238E27FC236}">
                <a16:creationId xmlns:a16="http://schemas.microsoft.com/office/drawing/2014/main" id="{5D55F1E6-D813-45B4-0AED-1AC3DE2B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928264" cy="8244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9EB855-AA59-72A6-18A1-C712ADFC15CD}"/>
              </a:ext>
            </a:extLst>
          </p:cNvPr>
          <p:cNvSpPr txBox="1"/>
          <p:nvPr/>
        </p:nvSpPr>
        <p:spPr>
          <a:xfrm>
            <a:off x="9227127" y="3545215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0527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0"/>
    </mc:Choice>
    <mc:Fallback xmlns="">
      <p:transition spd="slow" advTm="262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478</TotalTime>
  <Words>1521</Words>
  <Application>Microsoft Office PowerPoint</Application>
  <PresentationFormat>Custom</PresentationFormat>
  <Paragraphs>152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 Light</vt:lpstr>
      <vt:lpstr>Times New Roman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 1 Data Preparation &amp; Feature Extraction </vt:lpstr>
      <vt:lpstr>MODULE 2  Similarity Calculation &amp; Statistical Modeling</vt:lpstr>
      <vt:lpstr>MODULE 3  Recommendation Algorithm Implementation</vt:lpstr>
      <vt:lpstr>RESULTS/OUTPUT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Somineni Divya</dc:creator>
  <cp:lastModifiedBy>Dathu Kumar</cp:lastModifiedBy>
  <cp:revision>25</cp:revision>
  <dcterms:created xsi:type="dcterms:W3CDTF">2025-09-21T04:47:57Z</dcterms:created>
  <dcterms:modified xsi:type="dcterms:W3CDTF">2025-11-24T03:59:58Z</dcterms:modified>
</cp:coreProperties>
</file>