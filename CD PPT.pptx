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6"/>
  </p:notesMasterIdLst>
  <p:sldIdLst>
    <p:sldId id="319" r:id="rId2"/>
    <p:sldId id="316" r:id="rId3"/>
    <p:sldId id="416" r:id="rId4"/>
    <p:sldId id="417" r:id="rId5"/>
    <p:sldId id="421" r:id="rId6"/>
    <p:sldId id="429" r:id="rId7"/>
    <p:sldId id="431" r:id="rId8"/>
    <p:sldId id="434" r:id="rId9"/>
    <p:sldId id="436" r:id="rId10"/>
    <p:sldId id="422" r:id="rId11"/>
    <p:sldId id="428" r:id="rId12"/>
    <p:sldId id="423" r:id="rId13"/>
    <p:sldId id="427" r:id="rId14"/>
    <p:sldId id="43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 varScale="1">
        <p:scale>
          <a:sx n="82" d="100"/>
          <a:sy n="82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v Sai Kumar" userId="4605bc5144c9657b" providerId="LiveId" clId="{28EA5568-B730-43A7-9F28-63BAF175C151}"/>
    <pc:docChg chg="delSld">
      <pc:chgData name="d v Sai Kumar" userId="4605bc5144c9657b" providerId="LiveId" clId="{28EA5568-B730-43A7-9F28-63BAF175C151}" dt="2025-12-27T07:15:49.228" v="2" actId="2696"/>
      <pc:docMkLst>
        <pc:docMk/>
      </pc:docMkLst>
      <pc:sldChg chg="del">
        <pc:chgData name="d v Sai Kumar" userId="4605bc5144c9657b" providerId="LiveId" clId="{28EA5568-B730-43A7-9F28-63BAF175C151}" dt="2025-12-27T07:15:36.443" v="0" actId="2696"/>
        <pc:sldMkLst>
          <pc:docMk/>
          <pc:sldMk cId="584522440" sldId="430"/>
        </pc:sldMkLst>
      </pc:sldChg>
      <pc:sldChg chg="del">
        <pc:chgData name="d v Sai Kumar" userId="4605bc5144c9657b" providerId="LiveId" clId="{28EA5568-B730-43A7-9F28-63BAF175C151}" dt="2025-12-27T07:15:43.093" v="1" actId="2696"/>
        <pc:sldMkLst>
          <pc:docMk/>
          <pc:sldMk cId="3649887126" sldId="432"/>
        </pc:sldMkLst>
      </pc:sldChg>
      <pc:sldChg chg="del">
        <pc:chgData name="d v Sai Kumar" userId="4605bc5144c9657b" providerId="LiveId" clId="{28EA5568-B730-43A7-9F28-63BAF175C151}" dt="2025-12-27T07:15:49.228" v="2" actId="2696"/>
        <pc:sldMkLst>
          <pc:docMk/>
          <pc:sldMk cId="2060113272" sldId="4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04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6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711485"/>
            <a:ext cx="8686800" cy="484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Automated FIRST and FOLLOW Set Generator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Supervisor							CSE-Students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S Magesh Kumar				  D V Sai kumar-192372321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L Karthikeyan                                      M Vamsi-192325041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K Abhi-192325032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CSE				         Department of CSE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Saveetha School of Engineering               Saveetha School of Engineering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490" y="12192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4E168CA-B77A-5C20-56EE-731C40722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76959"/>
            <a:ext cx="822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Context-Free Grammars (CFGs) are used to define the syntax of programming languages in compiler design.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and FOLLOW sets are essential for syntax analysis and LL(1) parser construction.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computation of FIRST and FOLLOW sets is complex and prone to errors.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automates the calculation of FIRST and FOLLOW sets for a given grammar.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standard set algorithms to ensure correctness and reliability.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generated parsing sets help in efficient and accurate grammar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285" y="145289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9C25A38-7306-57D0-1DD8-36418BCB26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2249918"/>
            <a:ext cx="8458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calculation of FIRST and FOLLOW sets for context-free grammars is time-consuming and error-prone.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and recursive grammars increase the difficulty of accurate parsing set computation.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FIRST and FOLLOW sets can lead to faulty LL(1) parse tables and parsing errors.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lack of simple automated tools that validate grammars before computing parsing sets.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efficient and reliable system is required to automatically generate correct FIRST and FOLLOW sets for grammar analysis.</a:t>
            </a:r>
          </a:p>
        </p:txBody>
      </p:sp>
    </p:spTree>
    <p:extLst>
      <p:ext uri="{BB962C8B-B14F-4D97-AF65-F5344CB8AC3E}">
        <p14:creationId xmlns:p14="http://schemas.microsoft.com/office/powerpoint/2010/main" val="280446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24" y="111283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3C6D9C-D863-0AF2-B479-9DA7D1DDD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925946"/>
              </p:ext>
            </p:extLst>
          </p:nvPr>
        </p:nvGraphicFramePr>
        <p:xfrm>
          <a:off x="228600" y="1766364"/>
          <a:ext cx="8763000" cy="496103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44531303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3748765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764435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00627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97224426"/>
                    </a:ext>
                  </a:extLst>
                </a:gridCol>
              </a:tblGrid>
              <a:tr h="268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 /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830312"/>
                  </a:ext>
                </a:extLst>
              </a:tr>
              <a:tr h="1011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Aho, A. V., Lam, M. S., Sethi, R., &amp; Ullman, J. D. (2006)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/>
                        <a:t>Compilers: Principles, Techniques, and Tools</a:t>
                      </a:r>
                      <a:r>
                        <a:rPr lang="en-IN" sz="1200"/>
                        <a:t> – Pearson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Explained formal algorithms for FIRST and FOLLOW set computation and LL(1) parsing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the theoretical foundation for FIRST and FOLLOW set algorithms used in this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690588"/>
                  </a:ext>
                </a:extLst>
              </a:tr>
              <a:tr h="82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Grune, D. &amp; Jacobs, C. (2008)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/>
                        <a:t>Parsing Techniques: A Practical Guide</a:t>
                      </a:r>
                      <a:r>
                        <a:rPr lang="en-IN" sz="1200"/>
                        <a:t> – 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Discussed efficient parsing methods and grammar analysis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Supports the design of reliable parsing set computation methods.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46167"/>
                  </a:ext>
                </a:extLst>
              </a:tr>
              <a:tr h="1197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Sudkamp, T. A. (2011)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Languages and Machines: An Introduction to the Theory of Computer Science</a:t>
                      </a:r>
                      <a:r>
                        <a:rPr lang="en-US" sz="1200"/>
                        <a:t> – Addison-Wesley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Presented step-by-step procedures for computing FIRST and FOLLOW sets in CFGs.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Helps in understanding grammar behavior and correctness of parsing 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500094"/>
                  </a:ext>
                </a:extLst>
              </a:tr>
              <a:tr h="82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Appel, A. W. (2004)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/>
                        <a:t>Modern Compiler Implementation</a:t>
                      </a:r>
                      <a:r>
                        <a:rPr lang="en-US" sz="1200"/>
                        <a:t> – Cambridge University Press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Highlighted the importance of syntax analysis and parsing table construction.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Guides the application of FIRST and FOLLOW sets in parser design.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504592"/>
                  </a:ext>
                </a:extLst>
              </a:tr>
              <a:tr h="825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Parr, T. (2013)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The Definitive ANTLR Reference</a:t>
                      </a:r>
                      <a:r>
                        <a:rPr lang="en-US" sz="1200" dirty="0"/>
                        <a:t> – Pragmatic Bookshelf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Demonstrated automated grammar analysis and parsing tool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Motivates automation of grammar analysis instead of manual computation.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15325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822" y="172442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0"/>
            <a:ext cx="8001000" cy="3810000"/>
          </a:xfrm>
        </p:spPr>
        <p:txBody>
          <a:bodyPr>
            <a:noAutofit/>
          </a:bodyPr>
          <a:lstStyle/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:-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Engine CFG input	Compute parsing  sets Correctness	Reliable parsing info Set algorithms</a:t>
            </a:r>
          </a:p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:-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Engine</a:t>
            </a:r>
          </a:p>
          <a:p>
            <a:pPr marL="82296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:-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Input &amp; Validation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CEF12-69BC-39D6-7631-608245B6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47800"/>
            <a:ext cx="8458197" cy="5091112"/>
          </a:xfrm>
        </p:spPr>
        <p:txBody>
          <a:bodyPr>
            <a:normAutofit/>
          </a:bodyPr>
          <a:lstStyle/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1: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Engine CFG input Compute parsing  sets Correctness Reliable parsing info Set algorithms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US" sz="2000" dirty="0"/>
              <a:t>To compute correct and reliable FIRST parsing sets from a given CFG using standard set algorithms.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Main Functions:</a:t>
            </a:r>
            <a:endParaRPr lang="en-IN" sz="2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en-IN" sz="22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en-IN" sz="22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IN" sz="22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Concepts:</a:t>
            </a:r>
          </a:p>
          <a:p>
            <a:pPr marL="0" indent="0" algn="just">
              <a:buNone/>
            </a:pPr>
            <a:endParaRPr lang="en-IN" sz="22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en-IN" sz="22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FC6B7-0770-375C-EA71-E22B4C95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11796-A7F0-A19D-B166-0497EEE5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E43DABF3-BB59-2A90-7996-89758B19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B73E788E-AFE7-7855-895E-FE1DD8DD1C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2000" y="3498592"/>
            <a:ext cx="708659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 the context-free grammar as input.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the grammar rules.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the FIRST sets for all non-terminals.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the FOLLOW sets using FIRST sets.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correct and reliable parsing information.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8C4156C-E56F-6BE2-6A45-47D69680E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7" y="5129085"/>
            <a:ext cx="815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Line 1:</a:t>
            </a:r>
            <a:r>
              <a:rPr lang="en-US" dirty="0"/>
              <a:t> FIRST Engine takes a CFG input, computes parsing sets, and ensures correctness in parsing.</a:t>
            </a:r>
            <a:br>
              <a:rPr lang="en-US" dirty="0"/>
            </a:br>
            <a:r>
              <a:rPr lang="en-US" b="1" dirty="0"/>
              <a:t>Line 2:</a:t>
            </a:r>
            <a:r>
              <a:rPr lang="en-US" dirty="0"/>
              <a:t> It provides reliable parsing information and implements set algorithms for accurate grammar analysis.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3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BD92-469E-AD43-B30C-BDBC1780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886700" cy="6019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2: </a:t>
            </a:r>
            <a:r>
              <a:rPr lang="en-IN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 Engine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sz="1800" dirty="0"/>
              <a:t> </a:t>
            </a:r>
            <a:r>
              <a:rPr lang="en-US" sz="1800" dirty="0"/>
              <a:t>To compute accurate and reliable FOLLOW parsing sets for all non-terminals using FIRST set information and standard set algorithms.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Functions: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Concepts:</a:t>
            </a:r>
            <a:endParaRPr lang="en-IN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1800" b="1" dirty="0"/>
              <a:t>Polymorphism:</a:t>
            </a:r>
            <a:r>
              <a:rPr lang="en-IN" sz="1800" dirty="0"/>
              <a:t> Different payment methods via a common “Payment” interface.</a:t>
            </a:r>
          </a:p>
          <a:p>
            <a:r>
              <a:rPr lang="en-IN" sz="1800" b="1" dirty="0"/>
              <a:t>Encapsulation:</a:t>
            </a:r>
            <a:r>
              <a:rPr lang="en-IN" sz="1800" dirty="0"/>
              <a:t> Protect user and payment details.</a:t>
            </a:r>
          </a:p>
          <a:p>
            <a:r>
              <a:rPr lang="en-IN" sz="1800" b="1" dirty="0"/>
              <a:t>Abstraction:</a:t>
            </a:r>
            <a:r>
              <a:rPr lang="en-IN" sz="1800" dirty="0"/>
              <a:t> Simplify complex payment gateway operations.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2D13-F3CD-C824-E7E7-63678C74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D5142-EAD9-8B52-7B4E-60D1DE4E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DD9F6F0-C5ED-3FFE-B569-382A59FB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D5998D-4959-2217-9A03-D32B9A8CB6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600" y="2749033"/>
            <a:ext cx="7086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the grammar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FIRST sets for all non-terminals.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FOLLOW sets using FIRST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the context-free grammar as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parsing sets clearly.</a:t>
            </a:r>
          </a:p>
        </p:txBody>
      </p:sp>
    </p:spTree>
    <p:extLst>
      <p:ext uri="{BB962C8B-B14F-4D97-AF65-F5344CB8AC3E}">
        <p14:creationId xmlns:p14="http://schemas.microsoft.com/office/powerpoint/2010/main" val="177063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36879-786D-770C-642D-A901163F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BB9AB-3752-B044-0517-A2185E7C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9F92AF69-DFCE-AA41-D24A-F8894094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04800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BBE610-5BEE-9646-99B9-5806D2887697}"/>
              </a:ext>
            </a:extLst>
          </p:cNvPr>
          <p:cNvSpPr txBox="1"/>
          <p:nvPr/>
        </p:nvSpPr>
        <p:spPr>
          <a:xfrm>
            <a:off x="685800" y="1828799"/>
            <a:ext cx="72390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3: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Input &amp; Validation Module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sz="1800" dirty="0"/>
              <a:t> </a:t>
            </a:r>
            <a:r>
              <a:rPr lang="en-US" dirty="0"/>
              <a:t>"To allow automated input and validation of grammars, ensuring syntax, symbol, and consistency correctness."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Functions:</a:t>
            </a:r>
          </a:p>
          <a:p>
            <a:endParaRPr lang="en-IN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Concepts:</a:t>
            </a:r>
            <a:endParaRPr lang="en-IN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"Automated validation of context-free grammars to ensure correctness before parsing operations."</a:t>
            </a:r>
            <a:endParaRPr lang="en-IN" sz="18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ED447EC-CD5D-0B16-3C3F-674D1077E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80" y="3810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Accepts context-free grammar (CFG) input from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Validates grammar syntax and production rule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and classifies terminals and non-terminals.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for undefined, unused, or inconsistent symbols.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grammar correctness before FIRST and FOLLOW computation.</a:t>
            </a:r>
          </a:p>
        </p:txBody>
      </p:sp>
    </p:spTree>
    <p:extLst>
      <p:ext uri="{BB962C8B-B14F-4D97-AF65-F5344CB8AC3E}">
        <p14:creationId xmlns:p14="http://schemas.microsoft.com/office/powerpoint/2010/main" val="111275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AD363-28D8-7992-971D-BFFAF3EC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6F81E-93B0-F8A8-3B14-3ECDC1E8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2B5A0B57-998E-6714-38E3-8BEEEC685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54033-7160-1420-C16E-A334D5EEC5F3}"/>
              </a:ext>
            </a:extLst>
          </p:cNvPr>
          <p:cNvSpPr txBox="1"/>
          <p:nvPr/>
        </p:nvSpPr>
        <p:spPr>
          <a:xfrm>
            <a:off x="1905000" y="1566830"/>
            <a:ext cx="563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ARCHITECTURE DIAGRAM</a:t>
            </a:r>
          </a:p>
          <a:p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36CB73-E4E0-95FC-AC9C-A0877D90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2057400"/>
            <a:ext cx="6934200" cy="478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6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87532"/>
            <a:ext cx="7423150" cy="11096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EXISTING METHODS AND PROPOSED STRUCTURED METHODS</a:t>
            </a:r>
            <a:br>
              <a:rPr lang="en-IN" sz="3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3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169424" y="2971800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B0081C-DAE2-E18F-8D2A-8979E4067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81906"/>
              </p:ext>
            </p:extLst>
          </p:nvPr>
        </p:nvGraphicFramePr>
        <p:xfrm>
          <a:off x="609600" y="2285999"/>
          <a:ext cx="8305800" cy="40703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6450">
                  <a:extLst>
                    <a:ext uri="{9D8B030D-6E8A-4147-A177-3AD203B41FA5}">
                      <a16:colId xmlns:a16="http://schemas.microsoft.com/office/drawing/2014/main" val="61169439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385829531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1691114955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1256586967"/>
                    </a:ext>
                  </a:extLst>
                </a:gridCol>
              </a:tblGrid>
              <a:tr h="503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7030A0"/>
                          </a:solidFill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7030A0"/>
                          </a:solidFill>
                        </a:rPr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7030A0"/>
                          </a:solidFill>
                        </a:rPr>
                        <a:t>Existing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Proposed Structured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725051"/>
                  </a:ext>
                </a:extLst>
              </a:tr>
              <a:tr h="132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Module 1: FIRST Engine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FIRST set 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FIRST set calculation using textbook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FIRST set computation from CFG using standard set algorithms ensuring correctness and reliable parsing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60867"/>
                  </a:ext>
                </a:extLst>
              </a:tr>
              <a:tr h="1120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 2: FOLLOW Engine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FOLLOW set 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and error-prone FOLLOW set derivation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FOLLOW set computation using FIRST sets and standard algorithms for accurate parsing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252636"/>
                  </a:ext>
                </a:extLst>
              </a:tr>
              <a:tr h="1120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 3: Grammar Input &amp; Validation Module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Grammar input and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grammar checking without validation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Automated grammar input with syntax, symbol, and consistency validation to prevent invalid grammars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769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2573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Visual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087563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25" y="990600"/>
            <a:ext cx="7499350" cy="1500981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50298" y="2100230"/>
            <a:ext cx="8060301" cy="5900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F24627F-4C0F-3E17-56A7-50562BFCC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98" y="1919038"/>
            <a:ext cx="80603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accurate and reliable parsing information for compiler design tasks.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Grammar input validation prevents invalid or inconsistent grammar entries.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effort and time required for syntax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structured and systematic approach for parser development and 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methods significantly reduce human errors in FIRST and FOLLOW set computation.</a:t>
            </a:r>
          </a:p>
        </p:txBody>
      </p:sp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295400"/>
            <a:ext cx="7483475" cy="997744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381000" y="2057400"/>
            <a:ext cx="83820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0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4D41EAD-A1A9-BF7E-69EF-E1172CACC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1289"/>
            <a:ext cx="8382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Aho, A. V., Lam, M. S., Sethi, R., &amp; Ullman, J. D. (2007).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Compilers: Principles, Techniques, and 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(2nd ed.). Pearson.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Tremblay, J. P., &amp; Sorenson, P. G. (2007).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Theory and Practice of Compiler Writing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McGraw-Hill.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Grune, D., van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Reeuwijk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K., Bal, H. E., Jacobs, C. J. H.,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Langendoen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K. (2012).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Compiler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(2nd ed.). Springer.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Holub, A. I. (2009).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 Design in 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(2nd ed.). Prentice Hall.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Louden, K. C. (2003).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 Construction: Principles and Practice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(2nd ed.). Cengage Learning.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Ullman, J. D. (2001).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 of Compiler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Prentice Hall.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Appel, A. W. (2004).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Compiler Implementation in Java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(2nd ed.). Cambridge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A998C-3B60-5B6E-DAF5-50A649C0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B4084-35CB-42A3-93AB-735EB40E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F6983CA6-D98F-573A-462C-D9B6B6A5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88173-BB83-52B4-C6FC-37305DD6C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ow To Respond to 'Thank You,' Psychologist Explains - Parade">
            <a:extLst>
              <a:ext uri="{FF2B5EF4-FFF2-40B4-BE49-F238E27FC236}">
                <a16:creationId xmlns:a16="http://schemas.microsoft.com/office/drawing/2014/main" id="{D1C0296E-03C8-0680-91AD-480FD035D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077200" cy="456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52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6423</TotalTime>
  <Words>1213</Words>
  <Application>Microsoft Office PowerPoint</Application>
  <PresentationFormat>On-screen Show (4:3)</PresentationFormat>
  <Paragraphs>189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宋体</vt:lpstr>
      <vt:lpstr>Arial</vt:lpstr>
      <vt:lpstr>AvantGarde</vt:lpstr>
      <vt:lpstr>Calibri</vt:lpstr>
      <vt:lpstr>Calibri Light</vt:lpstr>
      <vt:lpstr>Times</vt:lpstr>
      <vt:lpstr>Times New Roman</vt:lpstr>
      <vt:lpstr>Wingdings</vt:lpstr>
      <vt:lpstr>Wingdings 2</vt:lpstr>
      <vt:lpstr>Office Theme</vt:lpstr>
      <vt:lpstr>PowerPoint Presentation</vt:lpstr>
      <vt:lpstr>Introduction</vt:lpstr>
      <vt:lpstr>Problem Statement</vt:lpstr>
      <vt:lpstr>Literature Review</vt:lpstr>
      <vt:lpstr>Modules</vt:lpstr>
      <vt:lpstr>PowerPoint Presentation</vt:lpstr>
      <vt:lpstr>PowerPoint Presentation</vt:lpstr>
      <vt:lpstr>PowerPoint Presentation</vt:lpstr>
      <vt:lpstr>PowerPoint Presentation</vt:lpstr>
      <vt:lpstr>EXISTING METHODS AND PROPOSED STRUCTURED METHODS  </vt:lpstr>
      <vt:lpstr>Visual Output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d v Sai Kumar</cp:lastModifiedBy>
  <cp:revision>409</cp:revision>
  <dcterms:created xsi:type="dcterms:W3CDTF">2000-07-06T15:05:59Z</dcterms:created>
  <dcterms:modified xsi:type="dcterms:W3CDTF">2025-12-27T07:15:54Z</dcterms:modified>
</cp:coreProperties>
</file>